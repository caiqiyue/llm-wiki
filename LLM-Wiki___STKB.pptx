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4800"/>
            <a:ext cx="312472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8E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STKB · KNOWLEDGE ARCHITECTURE BRIEF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641836" y="304800"/>
            <a:ext cx="188416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8E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 · 05 · 07 V1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5594152"/>
            <a:ext cx="96145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E08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CONCEPT · IMPLEMENTATION · ADOPTION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5889427"/>
            <a:ext cx="9614535" cy="318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100" b="1" spc="-81" kern="0" dirty="0">
                <a:solidFill>
                  <a:srgbClr val="F5F3E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LLM-Wiki </a:t>
            </a:r>
            <a:pPr algn="l" indent="0" marL="0">
              <a:lnSpc>
                <a:spcPct val="102000"/>
              </a:lnSpc>
              <a:buNone/>
            </a:pPr>
            <a:r>
              <a:rPr lang="en-US" sz="8100" spc="-81" kern="0" dirty="0">
                <a:solidFill>
                  <a:srgbClr val="9DA0A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与 STKB 的 </a:t>
            </a:r>
            <a:pPr algn="l" indent="0" marL="0">
              <a:lnSpc>
                <a:spcPct val="102000"/>
              </a:lnSpc>
              <a:buNone/>
            </a:pPr>
            <a:r>
              <a:rPr lang="en-US" sz="8100" b="1" spc="-81" kern="0" dirty="0">
                <a:solidFill>
                  <a:srgbClr val="E08E6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编译式</a:t>
            </a:r>
            <a:pPr algn="l" indent="0" marL="0">
              <a:lnSpc>
                <a:spcPct val="102000"/>
              </a:lnSpc>
              <a:buNone/>
            </a:pPr>
            <a:r>
              <a:rPr lang="en-US" sz="8100" b="1" spc="-81" kern="0" dirty="0">
                <a:solidFill>
                  <a:srgbClr val="F5F3E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知识工程</a:t>
            </a:r>
            <a:endParaRPr lang="en-US" sz="8100" dirty="0"/>
          </a:p>
        </p:txBody>
      </p:sp>
      <p:sp>
        <p:nvSpPr>
          <p:cNvPr id="6" name="Shape 4"/>
          <p:cNvSpPr/>
          <p:nvPr/>
        </p:nvSpPr>
        <p:spPr>
          <a:xfrm>
            <a:off x="838200" y="9380041"/>
            <a:ext cx="5600700" cy="9525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7" name="Shape 5"/>
          <p:cNvSpPr/>
          <p:nvPr/>
        </p:nvSpPr>
        <p:spPr>
          <a:xfrm>
            <a:off x="838200" y="9351466"/>
            <a:ext cx="66675" cy="66675"/>
          </a:xfrm>
          <a:prstGeom prst="ellipse">
            <a:avLst/>
          </a:prstGeom>
          <a:solidFill>
            <a:srgbClr val="E08E60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" y="9637216"/>
            <a:ext cx="7456170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把原始资料持续编译成可维护的知识中间层 —— 从一种方法论，到一个可运行的桌面系统， 再到一条 STKB 可以走的工程路径。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782300" y="9953625"/>
            <a:ext cx="752921" cy="265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126" kern="0" dirty="0">
                <a:solidFill>
                  <a:srgbClr val="9B9B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687621" y="9915525"/>
            <a:ext cx="5935044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Knowledge Engineering Team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782300" y="10295483"/>
            <a:ext cx="752921" cy="265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126" kern="0" dirty="0">
                <a:solidFill>
                  <a:srgbClr val="9B9B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AUDIENCE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687621" y="10257383"/>
            <a:ext cx="5935044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STKB 产品/工程组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782300" y="10637341"/>
            <a:ext cx="752921" cy="265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126" kern="0" dirty="0">
                <a:solidFill>
                  <a:srgbClr val="9B9B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PAGES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687621" y="10599241"/>
            <a:ext cx="5935044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46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8200" y="9867900"/>
            <a:ext cx="171330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7C7C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· WIKI · STKB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7C7C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46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4800"/>
            <a:ext cx="15497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 OF CONTENTS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756261" y="304800"/>
            <a:ext cx="7697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 PAGES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5240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目录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828800"/>
            <a:ext cx="17109948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五个章节，</a:t>
            </a:r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一条主线。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838200" y="3588990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3074640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38300" y="2922240"/>
            <a:ext cx="73786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LLM-Wiki：核心概念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030593" y="3007965"/>
            <a:ext cx="73786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问题、理念、三层架构、与 RAG/GraphRAG 的差异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422886" y="3074640"/>
            <a:ext cx="11031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P.05 — P.16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8200" y="4436715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" y="3922365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38300" y="3769965"/>
            <a:ext cx="73786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llm_wiki：从方法论到产品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030593" y="3855690"/>
            <a:ext cx="73786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桌面架构、摄取、查询、图谱、向量、治理、剪藏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422886" y="3922365"/>
            <a:ext cx="11031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P.17 — P.30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8200" y="5284440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" y="4770090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38300" y="4617690"/>
            <a:ext cx="73786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STKB：销售培训知识库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030593" y="4703415"/>
            <a:ext cx="73786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K1—K13、三层所有权、抽取四阶段、应用矩阵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422886" y="4770090"/>
            <a:ext cx="11031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P.31 — P.36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8200" y="6132165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2" name="Text 20"/>
          <p:cNvSpPr/>
          <p:nvPr/>
        </p:nvSpPr>
        <p:spPr>
          <a:xfrm>
            <a:off x="838200" y="5617815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38300" y="5465415"/>
            <a:ext cx="73786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对比与可结合点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030593" y="5551140"/>
            <a:ext cx="73786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同根的 pipeline、差异象限、可复用清单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6422886" y="5617815"/>
            <a:ext cx="11031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P.37 — P.41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8200" y="6979890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7" name="Text 25"/>
          <p:cNvSpPr/>
          <p:nvPr/>
        </p:nvSpPr>
        <p:spPr>
          <a:xfrm>
            <a:off x="838200" y="6465540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38300" y="6313140"/>
            <a:ext cx="73786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STKB 借鉴 LLM-Wiki：三阶段路线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030593" y="6398865"/>
            <a:ext cx="73786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MVP、完善、生态；风险与下一步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6422886" y="6465540"/>
            <a:ext cx="11031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P.42 — P.46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8200" y="9867900"/>
            <a:ext cx="97765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CONTENTS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46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4800"/>
            <a:ext cx="15497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 OF CONTENTS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756261" y="304800"/>
            <a:ext cx="7697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 PAGES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5240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目录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828800"/>
            <a:ext cx="17109948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五个章节，</a:t>
            </a:r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一条主线。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838200" y="3588990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3074640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38300" y="2922240"/>
            <a:ext cx="73786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LLM-Wiki：核心概念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030593" y="3007965"/>
            <a:ext cx="73786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问题、理念、三层架构、与 RAG/GraphRAG 的差异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422886" y="3074640"/>
            <a:ext cx="11031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P.05 — P.16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8200" y="4436715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" y="3922365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38300" y="3769965"/>
            <a:ext cx="73786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llm_wiki：从方法论到产品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030593" y="3855690"/>
            <a:ext cx="73786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桌面架构、摄取、查询、图谱、向量、治理、剪藏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422886" y="3922365"/>
            <a:ext cx="11031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P.17 — P.30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8200" y="5284440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" y="4770090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38300" y="4617690"/>
            <a:ext cx="73786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STKB：销售培训知识库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030593" y="4703415"/>
            <a:ext cx="73786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K1—K13、三层所有权、抽取四阶段、应用矩阵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422886" y="4770090"/>
            <a:ext cx="11031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P.31 — P.36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8200" y="6132165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2" name="Text 20"/>
          <p:cNvSpPr/>
          <p:nvPr/>
        </p:nvSpPr>
        <p:spPr>
          <a:xfrm>
            <a:off x="838200" y="5617815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38300" y="5465415"/>
            <a:ext cx="73786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对比与可结合点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030593" y="5551140"/>
            <a:ext cx="73786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同根的 pipeline、差异象限、可复用清单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6422886" y="5617815"/>
            <a:ext cx="11031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P.37 — P.41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8200" y="6979890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7" name="Text 25"/>
          <p:cNvSpPr/>
          <p:nvPr/>
        </p:nvSpPr>
        <p:spPr>
          <a:xfrm>
            <a:off x="838200" y="6465540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38300" y="6313140"/>
            <a:ext cx="73786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STKB 借鉴 LLM-Wiki：三阶段路线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030593" y="6398865"/>
            <a:ext cx="73786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MVP、完善、生态；风险与下一步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6422886" y="6465540"/>
            <a:ext cx="11031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P.42 — P.46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8200" y="9867900"/>
            <a:ext cx="97765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CONTENTS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46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4800"/>
            <a:ext cx="15497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 OF CONTENTS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756261" y="304800"/>
            <a:ext cx="7697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 PAGES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5240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目录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828800"/>
            <a:ext cx="17109948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五个章节，</a:t>
            </a:r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一条主线。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838200" y="3588990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3074640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38300" y="2922240"/>
            <a:ext cx="73786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LLM-Wiki：核心概念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030593" y="3007965"/>
            <a:ext cx="73786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问题、理念、三层架构、与 RAG/GraphRAG 的差异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422886" y="3074640"/>
            <a:ext cx="11031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P.05 — P.16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8200" y="4436715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" y="3922365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38300" y="3769965"/>
            <a:ext cx="73786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llm_wiki：从方法论到产品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030593" y="3855690"/>
            <a:ext cx="73786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桌面架构、摄取、查询、图谱、向量、治理、剪藏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422886" y="3922365"/>
            <a:ext cx="11031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P.17 — P.30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8200" y="5284440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" y="4770090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38300" y="4617690"/>
            <a:ext cx="73786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STKB：销售培训知识库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030593" y="4703415"/>
            <a:ext cx="73786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K1—K13、三层所有权、抽取四阶段、应用矩阵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422886" y="4770090"/>
            <a:ext cx="11031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P.31 — P.36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8200" y="6132165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2" name="Text 20"/>
          <p:cNvSpPr/>
          <p:nvPr/>
        </p:nvSpPr>
        <p:spPr>
          <a:xfrm>
            <a:off x="838200" y="5617815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38300" y="5465415"/>
            <a:ext cx="73786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对比与可结合点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030593" y="5551140"/>
            <a:ext cx="73786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同根的 pipeline、差异象限、可复用清单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6422886" y="5617815"/>
            <a:ext cx="11031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P.37 — P.41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8200" y="6979890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7" name="Text 25"/>
          <p:cNvSpPr/>
          <p:nvPr/>
        </p:nvSpPr>
        <p:spPr>
          <a:xfrm>
            <a:off x="838200" y="6465540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38300" y="6313140"/>
            <a:ext cx="73786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STKB 借鉴 LLM-Wiki：三阶段路线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030593" y="6398865"/>
            <a:ext cx="73786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MVP、完善、生态；风险与下一步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6422886" y="6465540"/>
            <a:ext cx="11031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P.42 — P.46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8200" y="9867900"/>
            <a:ext cx="97765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CONTENTS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46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2031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8E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01 OF 05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951398" y="304800"/>
            <a:ext cx="157460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8E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核心概念 · CONCEPTS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4191000"/>
            <a:ext cx="1716024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spc="-300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838200" y="6400800"/>
            <a:ext cx="17109948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spc="189" kern="0" dirty="0">
                <a:solidFill>
                  <a:srgbClr val="E08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01 / 概念层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200" y="6792218"/>
            <a:ext cx="10791825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F5F3E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LLM-Wiki：把原始资料编译成可维护的知识中间层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838200" y="8445698"/>
            <a:ext cx="107918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RAG 在查询时"现拼答案"；LLM-Wiki 在摄取时"先编译"。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38200" y="9867900"/>
            <a:ext cx="97765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7C7C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CONCEPTS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7C7C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46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PROBLEM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988605" y="304800"/>
            <a:ext cx="15373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为什么需要 LLM-WIKI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700487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它要解决什么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7004876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"现查现答" 没法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沉淀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830711"/>
            <a:ext cx="680085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3068836"/>
            <a:ext cx="7004876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传统 RAG / 文档问答的链路是： 上传 → 切块 → 索引 → 提问 → 临时拼答案。 每一次都从头来过，知识不会自己长大。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48650" y="1333500"/>
            <a:ext cx="920115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9" name="Text 7"/>
          <p:cNvSpPr/>
          <p:nvPr/>
        </p:nvSpPr>
        <p:spPr>
          <a:xfrm>
            <a:off x="8248650" y="1571625"/>
            <a:ext cx="947718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短板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48650" y="1809750"/>
            <a:ext cx="94771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知识不会自动积累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8650" y="2257425"/>
            <a:ext cx="947718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每次查询都是临时拼装，跨文档、跨时间的关联无法沉淀。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8248650" y="2897386"/>
            <a:ext cx="920115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3" name="Text 11"/>
          <p:cNvSpPr/>
          <p:nvPr/>
        </p:nvSpPr>
        <p:spPr>
          <a:xfrm>
            <a:off x="8248650" y="3135511"/>
            <a:ext cx="947718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短板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48650" y="3373636"/>
            <a:ext cx="94771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旧结论不会被自动修订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48650" y="3821311"/>
            <a:ext cx="947718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新证据进入时，模型不会回头校正过去的判断。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8248650" y="4461272"/>
            <a:ext cx="920115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7" name="Text 15"/>
          <p:cNvSpPr/>
          <p:nvPr/>
        </p:nvSpPr>
        <p:spPr>
          <a:xfrm>
            <a:off x="8248650" y="4699397"/>
            <a:ext cx="947718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短板 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48650" y="4937522"/>
            <a:ext cx="94771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高价值思考沉没在聊天里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48650" y="5385197"/>
            <a:ext cx="947718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综合分析停留在对话记录中，无法回写为可复用资产。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8248650" y="6025158"/>
            <a:ext cx="920115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1" name="Text 19"/>
          <p:cNvSpPr/>
          <p:nvPr/>
        </p:nvSpPr>
        <p:spPr>
          <a:xfrm>
            <a:off x="8248650" y="6263283"/>
            <a:ext cx="947718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短板 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48650" y="6501408"/>
            <a:ext cx="94771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维护负担转移给人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48650" y="6949083"/>
            <a:ext cx="947718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系统不会替你看护链接、命名、冲突 —— 长期就崩塌。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838200" y="9867900"/>
            <a:ext cx="13863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P01 · PROBLEM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46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2031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INVERSION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827425" y="304800"/>
            <a:ext cx="16985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查询时检索 → 摄取时整合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核心反转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把工作量从</a:t>
            </a:r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查询时 </a:t>
            </a:r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挪到</a:t>
            </a:r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摄取时</a:t>
            </a:r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838200" y="3444180"/>
            <a:ext cx="7696200" cy="3392686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475" y="3739455"/>
            <a:ext cx="73188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传统 RAG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133475" y="3968055"/>
            <a:ext cx="731882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查询时 动态拼装</a:t>
            </a:r>
            <a:endParaRPr lang="en-US" sz="2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" y="4853880"/>
            <a:ext cx="7105650" cy="10477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33475" y="6120705"/>
            <a:ext cx="731882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每次查询都得重新切片、重新检索、重新综合 —— </a:t>
            </a:r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知识不沉淀</a:t>
            </a:r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8724900" y="4788098"/>
            <a:ext cx="838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spc="189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3150" dirty="0"/>
          </a:p>
        </p:txBody>
      </p:sp>
      <p:sp>
        <p:nvSpPr>
          <p:cNvPr id="12" name="Text 9"/>
          <p:cNvSpPr/>
          <p:nvPr/>
        </p:nvSpPr>
        <p:spPr>
          <a:xfrm>
            <a:off x="8831907" y="5321498"/>
            <a:ext cx="7003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89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INVERT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753600" y="3448943"/>
            <a:ext cx="7696200" cy="3383161"/>
          </a:xfrm>
          <a:prstGeom prst="rect">
            <a:avLst/>
          </a:prstGeom>
          <a:solidFill>
            <a:srgbClr val="FFFFFF"/>
          </a:solidFill>
          <a:ln w="9525">
            <a:solidFill>
              <a:srgbClr val="B663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48875" y="3744218"/>
            <a:ext cx="73188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LLM-WIKI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10048875" y="3963293"/>
            <a:ext cx="731882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摄取时 持续编译</a:t>
            </a:r>
            <a:endParaRPr lang="en-US" sz="22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5" y="4849118"/>
            <a:ext cx="7105650" cy="10477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048875" y="6115943"/>
            <a:ext cx="731882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资料一进系统就被整理为页面 —— </a:t>
            </a:r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查询、研究都从中间层开始</a:t>
            </a:r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275" dirty="0"/>
          </a:p>
        </p:txBody>
      </p:sp>
      <p:sp>
        <p:nvSpPr>
          <p:cNvPr id="18" name="Text 14"/>
          <p:cNvSpPr/>
          <p:nvPr/>
        </p:nvSpPr>
        <p:spPr>
          <a:xfrm>
            <a:off x="838200" y="9867900"/>
            <a:ext cx="154974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P01 · INVERSION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46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4800"/>
            <a:ext cx="21565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THREE-LAYER ARCHITECTURE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802868" y="304800"/>
            <a:ext cx="17231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 / WIKI / SCHEMA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74169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三层架构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7416927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事实 · 知识 · 纪律。 缺一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不可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830711"/>
            <a:ext cx="72009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3068836"/>
            <a:ext cx="741692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 LLM-Wiki 最简洁也最强的结构。 每一层各管一件事，分得越清， 系统跑得越久。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38200" y="4202311"/>
            <a:ext cx="72009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9" name="Text 7"/>
          <p:cNvSpPr/>
          <p:nvPr/>
        </p:nvSpPr>
        <p:spPr>
          <a:xfrm>
            <a:off x="838200" y="4421386"/>
            <a:ext cx="1409700" cy="265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126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00300" y="4383286"/>
            <a:ext cx="5807964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事实底座，原则上不可变；保证可追溯性。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8200" y="4763244"/>
            <a:ext cx="1409700" cy="265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126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WIKI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00300" y="4725144"/>
            <a:ext cx="5807964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持续被维护的 Markdown 知识中间层。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8200" y="5105102"/>
            <a:ext cx="1409700" cy="265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126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SCHEMA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00300" y="5067002"/>
            <a:ext cx="5807964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把"提示词"升级为"制度"——目录、命名、流程。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48700" y="3142952"/>
            <a:ext cx="8801100" cy="1359098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24925" y="3381077"/>
            <a:ext cx="84961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03 · 纪律层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8924925" y="3590627"/>
            <a:ext cx="849611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SCHEMA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8924925" y="4004965"/>
            <a:ext cx="849611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规则 · 命名 · 目录 · 摄取流程 · Lint / Review 标准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6656844" y="3381077"/>
            <a:ext cx="6310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不可漂移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48700" y="4673501"/>
            <a:ext cx="8801100" cy="1359098"/>
          </a:xfrm>
          <a:prstGeom prst="rect">
            <a:avLst/>
          </a:prstGeom>
          <a:solidFill>
            <a:srgbClr val="FFF8F3"/>
          </a:solidFill>
          <a:ln w="9525">
            <a:solidFill>
              <a:srgbClr val="B663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24925" y="4911626"/>
            <a:ext cx="84961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02 · 知识中间层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8924925" y="5121176"/>
            <a:ext cx="849611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WIKI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8924925" y="5535513"/>
            <a:ext cx="849611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实体页 · 概念页 · 主题页 · 对比页 · 综合判断页 · index / log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6656844" y="4911626"/>
            <a:ext cx="6310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持续生长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48700" y="6204049"/>
            <a:ext cx="8801100" cy="1359098"/>
          </a:xfrm>
          <a:prstGeom prst="rect">
            <a:avLst/>
          </a:prstGeom>
          <a:solidFill>
            <a:srgbClr val="EBE7DD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24925" y="6442174"/>
            <a:ext cx="84961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01 · 事实底座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8924925" y="6651724"/>
            <a:ext cx="849611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RAW SOURCES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8924925" y="7066062"/>
            <a:ext cx="849611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原文档、笔录、网页、附件 —— 不被模型直接污染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6518136" y="6442174"/>
            <a:ext cx="7697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原则不可变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8200" y="9867900"/>
            <a:ext cx="179501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P01 · THREE LAYERS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46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5497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PRINCIPLES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431393" y="304800"/>
            <a:ext cx="20946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六个理念 · SIX PRINCIPLES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设计理念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六句话，看懂这套系统的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价值观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405955"/>
            <a:ext cx="5334000" cy="174664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475" y="2682180"/>
            <a:ext cx="48857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PRINCIPLE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475" y="2910780"/>
            <a:ext cx="4885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知识是被"编译"的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33475" y="3358455"/>
            <a:ext cx="4885754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原文是源代码，Wiki 是产物，Schema 是构建规则。重心在摄取时综合，而非查询时拼装。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6477000" y="2405955"/>
            <a:ext cx="5334000" cy="174664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72275" y="2682180"/>
            <a:ext cx="48857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PRINCIPLE 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72275" y="2910780"/>
            <a:ext cx="4885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最难的不是写，是维护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72275" y="3358455"/>
            <a:ext cx="4885754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摘要会过时、链接会断、概念会撞名 —— 这些重复脏活，正适合外包给 LLM。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2115800" y="2405955"/>
            <a:ext cx="5334000" cy="174664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11075" y="2682180"/>
            <a:ext cx="48857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PRINCIPLE 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411075" y="2910780"/>
            <a:ext cx="4885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价值在"连接"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411075" y="3358455"/>
            <a:ext cx="4885754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知识不是堆积的页面，而是页面网络：交叉引用、矛盾标注、主题归纳、证据映射。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838200" y="4457402"/>
            <a:ext cx="5334000" cy="174664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3475" y="4733627"/>
            <a:ext cx="48857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PRINCIPLE 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475" y="4962227"/>
            <a:ext cx="4885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问答结果也要回写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33475" y="5409902"/>
            <a:ext cx="4885754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一次好的提问会推动知识库演化 —— 综合页、比较页、研究页都从对话中析出。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6477000" y="4457402"/>
            <a:ext cx="5334000" cy="174664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72275" y="4733627"/>
            <a:ext cx="48857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PRINCIPLE 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72275" y="4962227"/>
            <a:ext cx="4885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人策展，LLM 干体力活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72275" y="5409902"/>
            <a:ext cx="4885754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人筛选来源、提出好问题、做最终判断；模型负责其余 —— 不追求"全自主大脑"。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2115800" y="4457402"/>
            <a:ext cx="5334000" cy="174664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411075" y="4733627"/>
            <a:ext cx="48857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PRINCIPLE 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411075" y="4962227"/>
            <a:ext cx="4885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Wiki 是资产，聊天不是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411075" y="5409902"/>
            <a:ext cx="4885754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聊天有即时性但没有结构，结构化页面才能被复用、被回访、被审查。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838200" y="9867900"/>
            <a:ext cx="163145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P01 · PRINCIPLES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46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2031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IT STORES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815221" y="304800"/>
            <a:ext cx="17107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不是文件归档，是页面网络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它怎么"存"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8241030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存的不是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原文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 是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结构化表达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868811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3145036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· 不是 BLOB，是页面类型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38200" y="3506986"/>
            <a:ext cx="824103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来源页、实体页、概念页、主题页、对比页、综合判断页、索引页、日志页 —— 每种页面都有自己的职责。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" y="4478536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 · 不是追加，是归并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38200" y="4840486"/>
            <a:ext cx="824103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新资料进入时，对应的实体页 / 主题页会被同时更新；像数据库的 upsert，又像知识图谱的实体归一化。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8200" y="5812036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· 不是孤页，是网络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38200" y="6173986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真正的存储单位是页与页之间的关系：链接、共同来源、相互引用、冲突标记。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8200" y="6831211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 · 不只内容，还有状态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38200" y="7193161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log.md 记录知识库的演化轨迹 —— 何时加入、何时改动、何时全局体检。</a:t>
            </a:r>
            <a:endParaRPr lang="en-US" sz="15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2876550"/>
            <a:ext cx="4953000" cy="4953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38200" y="9867900"/>
            <a:ext cx="122292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P01 · STORE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46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46312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IT RETRIEVES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236255" y="304800"/>
            <a:ext cx="12897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三段式 + 闭环回写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它怎么"取"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取知识的过程，是一条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读—写闭环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463105"/>
            <a:ext cx="5384750" cy="174664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475" y="2739330"/>
            <a:ext cx="49380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475" y="2967930"/>
            <a:ext cx="49380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定位相关页面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33475" y="3415605"/>
            <a:ext cx="4938026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 index.md → 找到候选 → 进入 Wiki 页面阅读。模型直接面对的不是原文噪声，而是已整理过的高信噪比页面。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6451550" y="2463105"/>
            <a:ext cx="5384750" cy="174664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6825" y="2739330"/>
            <a:ext cx="49380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46825" y="2967930"/>
            <a:ext cx="49380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必要时回溯原文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46825" y="3415605"/>
            <a:ext cx="4938026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页面有不确定、要更高精度证据、出现冲突时，模型才回到 raw sources 取证。Wiki 是接口层，不是终点。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2064901" y="2463105"/>
            <a:ext cx="5384750" cy="1746647"/>
          </a:xfrm>
          <a:prstGeom prst="rect">
            <a:avLst/>
          </a:prstGeom>
          <a:solidFill>
            <a:srgbClr val="FFF8F3"/>
          </a:solidFill>
          <a:ln w="9525">
            <a:solidFill>
              <a:srgbClr val="B66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60176" y="2739330"/>
            <a:ext cx="49380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360176" y="2967930"/>
            <a:ext cx="49380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把答案写回系统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60176" y="3415605"/>
            <a:ext cx="4938026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高价值回答会被沉淀为新页面（综合 / 比较 / 研究）。"取"反过来增强"存"—— 这是它和传统 RAG 最大的差别。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838200" y="4666952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9" name="Shape 17"/>
          <p:cNvSpPr/>
          <p:nvPr/>
        </p:nvSpPr>
        <p:spPr>
          <a:xfrm>
            <a:off x="838200" y="4943177"/>
            <a:ext cx="398145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" y="5086052"/>
            <a:ext cx="410089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5%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838200" y="5771852"/>
            <a:ext cx="410089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· INDEX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5048250" y="4943177"/>
            <a:ext cx="398145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3" name="Text 21"/>
          <p:cNvSpPr/>
          <p:nvPr/>
        </p:nvSpPr>
        <p:spPr>
          <a:xfrm>
            <a:off x="5048250" y="5086052"/>
            <a:ext cx="410089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50%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5048250" y="5771852"/>
            <a:ext cx="41008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· WIKI 页面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9258300" y="4943177"/>
            <a:ext cx="398145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6" name="Text 24"/>
          <p:cNvSpPr/>
          <p:nvPr/>
        </p:nvSpPr>
        <p:spPr>
          <a:xfrm>
            <a:off x="9258300" y="5086052"/>
            <a:ext cx="410089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15%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9258300" y="5771852"/>
            <a:ext cx="41008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· 模型输出预留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13468350" y="4943177"/>
            <a:ext cx="398145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9" name="Text 27"/>
          <p:cNvSpPr/>
          <p:nvPr/>
        </p:nvSpPr>
        <p:spPr>
          <a:xfrm>
            <a:off x="13468350" y="5086052"/>
            <a:ext cx="410089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RRF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13468350" y="5771852"/>
            <a:ext cx="41008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向量 × 词法融合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838200" y="6057602"/>
            <a:ext cx="17109948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上下文预算（context-budget）按区域切分，不是"能塞就塞"。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838200" y="9867900"/>
            <a:ext cx="14680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P01 · RETRIEVE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46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596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VERSUS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790515" y="304800"/>
            <a:ext cx="17354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LLM-WIKI VS 传统 RAG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与 RAG 的差异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"找答案"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与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"养知识"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的距离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871639"/>
            <a:ext cx="3654475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596455"/>
            <a:ext cx="3459309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维度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4492675" y="2871639"/>
            <a:ext cx="7152382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9" name="Text 7"/>
          <p:cNvSpPr/>
          <p:nvPr/>
        </p:nvSpPr>
        <p:spPr>
          <a:xfrm>
            <a:off x="4645075" y="2596455"/>
            <a:ext cx="7062153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传统 RAG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11645057" y="2871639"/>
            <a:ext cx="5804743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1" name="Text 9"/>
          <p:cNvSpPr/>
          <p:nvPr/>
        </p:nvSpPr>
        <p:spPr>
          <a:xfrm>
            <a:off x="11797457" y="2596455"/>
            <a:ext cx="5674086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LLM-WIKI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838200" y="3387775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3014514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处理重心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492675" y="3387775"/>
            <a:ext cx="7152382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5" name="Text 13"/>
          <p:cNvSpPr/>
          <p:nvPr/>
        </p:nvSpPr>
        <p:spPr>
          <a:xfrm>
            <a:off x="4645075" y="3014514"/>
            <a:ext cx="7062153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查询时检索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1645057" y="3387775"/>
            <a:ext cx="5804743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7" name="Text 15"/>
          <p:cNvSpPr/>
          <p:nvPr/>
        </p:nvSpPr>
        <p:spPr>
          <a:xfrm>
            <a:off x="11797457" y="3014514"/>
            <a:ext cx="5674086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摄取时整合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38200" y="3903911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3530650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主要对象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92675" y="3903911"/>
            <a:ext cx="7152382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1" name="Text 19"/>
          <p:cNvSpPr/>
          <p:nvPr/>
        </p:nvSpPr>
        <p:spPr>
          <a:xfrm>
            <a:off x="4645075" y="3530650"/>
            <a:ext cx="7062153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原始文本块（chunk）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1645057" y="3903911"/>
            <a:ext cx="5804743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3" name="Text 21"/>
          <p:cNvSpPr/>
          <p:nvPr/>
        </p:nvSpPr>
        <p:spPr>
          <a:xfrm>
            <a:off x="11797457" y="3530650"/>
            <a:ext cx="5674086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已整理 Wiki 页面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38200" y="4420046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4046786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知识是否积累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492675" y="4420046"/>
            <a:ext cx="7152382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075" y="4046786"/>
            <a:ext cx="7062153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弱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1645057" y="4420046"/>
            <a:ext cx="5804743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9" name="Text 27"/>
          <p:cNvSpPr/>
          <p:nvPr/>
        </p:nvSpPr>
        <p:spPr>
          <a:xfrm>
            <a:off x="11797457" y="4046786"/>
            <a:ext cx="5674086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强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38200" y="4936182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1" name="Text 29"/>
          <p:cNvSpPr/>
          <p:nvPr/>
        </p:nvSpPr>
        <p:spPr>
          <a:xfrm>
            <a:off x="990600" y="4562921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跨文档综合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492675" y="4936182"/>
            <a:ext cx="7152382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3" name="Text 31"/>
          <p:cNvSpPr/>
          <p:nvPr/>
        </p:nvSpPr>
        <p:spPr>
          <a:xfrm>
            <a:off x="4645075" y="4562921"/>
            <a:ext cx="7062153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每次重做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1645057" y="4936182"/>
            <a:ext cx="5804743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5" name="Text 33"/>
          <p:cNvSpPr/>
          <p:nvPr/>
        </p:nvSpPr>
        <p:spPr>
          <a:xfrm>
            <a:off x="11797457" y="4562921"/>
            <a:ext cx="5674086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可沉淀复用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38200" y="5452318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7" name="Text 35"/>
          <p:cNvSpPr/>
          <p:nvPr/>
        </p:nvSpPr>
        <p:spPr>
          <a:xfrm>
            <a:off x="990600" y="5079057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维护机制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4492675" y="5452318"/>
            <a:ext cx="7152382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9" name="Text 37"/>
          <p:cNvSpPr/>
          <p:nvPr/>
        </p:nvSpPr>
        <p:spPr>
          <a:xfrm>
            <a:off x="4645075" y="5079057"/>
            <a:ext cx="7062153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通常较弱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11645057" y="5452318"/>
            <a:ext cx="5804743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1" name="Text 39"/>
          <p:cNvSpPr/>
          <p:nvPr/>
        </p:nvSpPr>
        <p:spPr>
          <a:xfrm>
            <a:off x="11797457" y="5079057"/>
            <a:ext cx="5674086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明确维护流程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38200" y="5968454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3" name="Text 41"/>
          <p:cNvSpPr/>
          <p:nvPr/>
        </p:nvSpPr>
        <p:spPr>
          <a:xfrm>
            <a:off x="990600" y="5595193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输出去向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4492675" y="5968454"/>
            <a:ext cx="7152382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5" name="Text 43"/>
          <p:cNvSpPr/>
          <p:nvPr/>
        </p:nvSpPr>
        <p:spPr>
          <a:xfrm>
            <a:off x="4645075" y="5595193"/>
            <a:ext cx="7062153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多半停留在回答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11645057" y="5968454"/>
            <a:ext cx="5804743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7" name="Text 45"/>
          <p:cNvSpPr/>
          <p:nvPr/>
        </p:nvSpPr>
        <p:spPr>
          <a:xfrm>
            <a:off x="11797457" y="5595193"/>
            <a:ext cx="5674086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可回写为新知识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38200" y="6325642"/>
            <a:ext cx="17109948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一句话：RAG 更像"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从资料里找答案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"， LLM-Wiki 更像"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先把资料整理成会成长的知识空间，再从里面工作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"。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838200" y="9867900"/>
            <a:ext cx="13046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P01 · VS RAG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46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4800"/>
            <a:ext cx="596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VERSUS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716250" y="304800"/>
            <a:ext cx="18097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LLM-WIKI VS GRAPHRAG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与 GRAPHRAG 的差异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8241030" cy="1483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人类可读 vs 机器可算。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天然互补。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3350716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3626941"/>
            <a:ext cx="8241030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GraphRAG 强调显式抽取实体—关系，构建图谱并在图上检索推理。 LLM-Wiki 强调 Markdown 页面网络 —— 一种人类能直接读、改、审的形态。 两者并不冲突，最佳形态是： </a:t>
            </a:r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Wiki + Graph + Vector + Review </a:t>
            </a:r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的多层协同。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448800" y="1742033"/>
            <a:ext cx="1760190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0" y="1466850"/>
            <a:ext cx="1531590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维度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11208990" y="1742033"/>
            <a:ext cx="2094309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1" name="Text 9"/>
          <p:cNvSpPr/>
          <p:nvPr/>
        </p:nvSpPr>
        <p:spPr>
          <a:xfrm>
            <a:off x="11361390" y="1466850"/>
            <a:ext cx="1865709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GRAPHRAG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13303300" y="1742033"/>
            <a:ext cx="4146500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3" name="Text 11"/>
          <p:cNvSpPr/>
          <p:nvPr/>
        </p:nvSpPr>
        <p:spPr>
          <a:xfrm>
            <a:off x="13455700" y="1466850"/>
            <a:ext cx="3966095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LLM-WIKI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9448800" y="2258169"/>
            <a:ext cx="176019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0" y="1884908"/>
            <a:ext cx="153159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主形态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1208990" y="2258169"/>
            <a:ext cx="2094309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7" name="Text 15"/>
          <p:cNvSpPr/>
          <p:nvPr/>
        </p:nvSpPr>
        <p:spPr>
          <a:xfrm>
            <a:off x="11361390" y="1884908"/>
            <a:ext cx="18657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图结构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3303300" y="2258169"/>
            <a:ext cx="41465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9" name="Text 17"/>
          <p:cNvSpPr/>
          <p:nvPr/>
        </p:nvSpPr>
        <p:spPr>
          <a:xfrm>
            <a:off x="13455700" y="1884908"/>
            <a:ext cx="396609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Markdown 页面网络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448800" y="2774305"/>
            <a:ext cx="176019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2401044"/>
            <a:ext cx="153159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人类可读性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1208990" y="2774305"/>
            <a:ext cx="2094309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3" name="Text 21"/>
          <p:cNvSpPr/>
          <p:nvPr/>
        </p:nvSpPr>
        <p:spPr>
          <a:xfrm>
            <a:off x="11361390" y="2401044"/>
            <a:ext cx="18657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中等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3303300" y="2774305"/>
            <a:ext cx="41465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5" name="Text 23"/>
          <p:cNvSpPr/>
          <p:nvPr/>
        </p:nvSpPr>
        <p:spPr>
          <a:xfrm>
            <a:off x="13455700" y="2401044"/>
            <a:ext cx="396609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强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448800" y="3290441"/>
            <a:ext cx="176019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2917180"/>
            <a:ext cx="153159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机器推理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1208990" y="3290441"/>
            <a:ext cx="2094309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9" name="Text 27"/>
          <p:cNvSpPr/>
          <p:nvPr/>
        </p:nvSpPr>
        <p:spPr>
          <a:xfrm>
            <a:off x="11361390" y="2917180"/>
            <a:ext cx="18657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强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3303300" y="3290441"/>
            <a:ext cx="41465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1" name="Text 29"/>
          <p:cNvSpPr/>
          <p:nvPr/>
        </p:nvSpPr>
        <p:spPr>
          <a:xfrm>
            <a:off x="13455700" y="2917180"/>
            <a:ext cx="396609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中等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448800" y="3806577"/>
            <a:ext cx="176019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0" y="3433316"/>
            <a:ext cx="153159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维护可视化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1208990" y="3806577"/>
            <a:ext cx="2094309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5" name="Text 33"/>
          <p:cNvSpPr/>
          <p:nvPr/>
        </p:nvSpPr>
        <p:spPr>
          <a:xfrm>
            <a:off x="11361390" y="3433316"/>
            <a:ext cx="18657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需图工具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3303300" y="3806577"/>
            <a:ext cx="41465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7" name="Text 35"/>
          <p:cNvSpPr/>
          <p:nvPr/>
        </p:nvSpPr>
        <p:spPr>
          <a:xfrm>
            <a:off x="13455700" y="3433316"/>
            <a:ext cx="396609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编辑器即可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9448800" y="4322713"/>
            <a:ext cx="176019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9" name="Text 37"/>
          <p:cNvSpPr/>
          <p:nvPr/>
        </p:nvSpPr>
        <p:spPr>
          <a:xfrm>
            <a:off x="9601200" y="3949452"/>
            <a:ext cx="153159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关系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11208990" y="4322713"/>
            <a:ext cx="624081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1" name="Text 39"/>
          <p:cNvSpPr/>
          <p:nvPr/>
        </p:nvSpPr>
        <p:spPr>
          <a:xfrm>
            <a:off x="11361390" y="3949452"/>
            <a:ext cx="612323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不冲突，可叠加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9448800" y="4565600"/>
            <a:ext cx="8001000" cy="1487686"/>
          </a:xfrm>
          <a:prstGeom prst="rect">
            <a:avLst/>
          </a:prstGeom>
          <a:solidFill>
            <a:srgbClr val="FFF8F3"/>
          </a:solidFill>
          <a:ln w="9525">
            <a:solidFill>
              <a:srgbClr val="B663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44075" y="4841825"/>
            <a:ext cx="76327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CO-DESIGN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744075" y="5070425"/>
            <a:ext cx="76327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llm_wiki 已经在融合两者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744075" y="5518100"/>
            <a:ext cx="7632763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底层主存仍是 Markdown Wiki，但叠加了知识图谱、社区检测和图谱洞察 —— 这正是趋势。</a:t>
            </a:r>
            <a:endParaRPr lang="en-US" sz="1275" dirty="0"/>
          </a:p>
        </p:txBody>
      </p:sp>
      <p:sp>
        <p:nvSpPr>
          <p:cNvPr id="46" name="Text 44"/>
          <p:cNvSpPr/>
          <p:nvPr/>
        </p:nvSpPr>
        <p:spPr>
          <a:xfrm>
            <a:off x="838200" y="9867900"/>
            <a:ext cx="171330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P01 · VS GRAPHRAG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46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3763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FOUR-WAY MATRIX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4614178" y="304800"/>
            <a:ext cx="292069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知识库 / RAG / GRAPHRAG / LLM-WIKI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总表对比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四种范式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放在同一张表上看。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405955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Shape 5"/>
          <p:cNvSpPr/>
          <p:nvPr/>
        </p:nvSpPr>
        <p:spPr>
          <a:xfrm>
            <a:off x="838200" y="2405955"/>
            <a:ext cx="9525" cy="67151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8" name="Shape 6"/>
          <p:cNvSpPr/>
          <p:nvPr/>
        </p:nvSpPr>
        <p:spPr>
          <a:xfrm>
            <a:off x="847725" y="2415480"/>
            <a:ext cx="4072086" cy="838200"/>
          </a:xfrm>
          <a:prstGeom prst="rect">
            <a:avLst/>
          </a:prstGeom>
          <a:solidFill>
            <a:srgbClr val="EBE7DD"/>
          </a:solidFill>
          <a:ln/>
        </p:spPr>
      </p:sp>
      <p:sp>
        <p:nvSpPr>
          <p:cNvPr id="9" name="Shape 7"/>
          <p:cNvSpPr/>
          <p:nvPr/>
        </p:nvSpPr>
        <p:spPr>
          <a:xfrm>
            <a:off x="847725" y="3244155"/>
            <a:ext cx="40720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0" name="Shape 8"/>
          <p:cNvSpPr/>
          <p:nvPr/>
        </p:nvSpPr>
        <p:spPr>
          <a:xfrm>
            <a:off x="4910286" y="24154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1" name="Text 9"/>
          <p:cNvSpPr/>
          <p:nvPr/>
        </p:nvSpPr>
        <p:spPr>
          <a:xfrm>
            <a:off x="1019175" y="2586930"/>
            <a:ext cx="384182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3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维度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4919811" y="2415480"/>
            <a:ext cx="3132534" cy="838200"/>
          </a:xfrm>
          <a:prstGeom prst="rect">
            <a:avLst/>
          </a:prstGeom>
          <a:solidFill>
            <a:srgbClr val="EBE7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919811" y="3244155"/>
            <a:ext cx="313253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2821" y="24154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5" name="Text 13"/>
          <p:cNvSpPr/>
          <p:nvPr/>
        </p:nvSpPr>
        <p:spPr>
          <a:xfrm>
            <a:off x="5091261" y="2586930"/>
            <a:ext cx="287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3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传统知识库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8052346" y="2415480"/>
            <a:ext cx="3132386" cy="838200"/>
          </a:xfrm>
          <a:prstGeom prst="rect">
            <a:avLst/>
          </a:prstGeom>
          <a:solidFill>
            <a:srgbClr val="EBE7DD"/>
          </a:solidFill>
          <a:ln/>
        </p:spPr>
      </p:sp>
      <p:sp>
        <p:nvSpPr>
          <p:cNvPr id="17" name="Shape 15"/>
          <p:cNvSpPr/>
          <p:nvPr/>
        </p:nvSpPr>
        <p:spPr>
          <a:xfrm>
            <a:off x="8052346" y="3244155"/>
            <a:ext cx="31323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75206" y="24154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3796" y="2586930"/>
            <a:ext cx="28739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3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11184731" y="2415480"/>
            <a:ext cx="3132534" cy="838200"/>
          </a:xfrm>
          <a:prstGeom prst="rect">
            <a:avLst/>
          </a:prstGeom>
          <a:solidFill>
            <a:srgbClr val="EBE7DD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84731" y="3244155"/>
            <a:ext cx="313253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2" name="Shape 20"/>
          <p:cNvSpPr/>
          <p:nvPr/>
        </p:nvSpPr>
        <p:spPr>
          <a:xfrm>
            <a:off x="14307741" y="24154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3" name="Text 21"/>
          <p:cNvSpPr/>
          <p:nvPr/>
        </p:nvSpPr>
        <p:spPr>
          <a:xfrm>
            <a:off x="11356181" y="2586930"/>
            <a:ext cx="287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3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GRAPHRAG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14317266" y="2415480"/>
            <a:ext cx="3132386" cy="838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4317266" y="3244155"/>
            <a:ext cx="31323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6" name="Shape 24"/>
          <p:cNvSpPr/>
          <p:nvPr/>
        </p:nvSpPr>
        <p:spPr>
          <a:xfrm>
            <a:off x="17440126" y="24154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7" name="Text 25"/>
          <p:cNvSpPr/>
          <p:nvPr/>
        </p:nvSpPr>
        <p:spPr>
          <a:xfrm>
            <a:off x="14488716" y="2586930"/>
            <a:ext cx="28739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3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LLM-WIKI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847725" y="4082355"/>
            <a:ext cx="40720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9" name="Shape 27"/>
          <p:cNvSpPr/>
          <p:nvPr/>
        </p:nvSpPr>
        <p:spPr>
          <a:xfrm>
            <a:off x="4910286" y="32536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0" name="Text 28"/>
          <p:cNvSpPr/>
          <p:nvPr/>
        </p:nvSpPr>
        <p:spPr>
          <a:xfrm>
            <a:off x="1019175" y="3425130"/>
            <a:ext cx="384182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核心目标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919811" y="4082355"/>
            <a:ext cx="313253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2" name="Shape 30"/>
          <p:cNvSpPr/>
          <p:nvPr/>
        </p:nvSpPr>
        <p:spPr>
          <a:xfrm>
            <a:off x="8042821" y="32536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3" name="Text 31"/>
          <p:cNvSpPr/>
          <p:nvPr/>
        </p:nvSpPr>
        <p:spPr>
          <a:xfrm>
            <a:off x="5091261" y="3425130"/>
            <a:ext cx="287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人工整理知识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8052346" y="4082355"/>
            <a:ext cx="31323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175206" y="32536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6" name="Text 34"/>
          <p:cNvSpPr/>
          <p:nvPr/>
        </p:nvSpPr>
        <p:spPr>
          <a:xfrm>
            <a:off x="8223796" y="3425130"/>
            <a:ext cx="28739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从文档中回答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11184731" y="4082355"/>
            <a:ext cx="313253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8" name="Shape 36"/>
          <p:cNvSpPr/>
          <p:nvPr/>
        </p:nvSpPr>
        <p:spPr>
          <a:xfrm>
            <a:off x="14307741" y="32536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9" name="Text 37"/>
          <p:cNvSpPr/>
          <p:nvPr/>
        </p:nvSpPr>
        <p:spPr>
          <a:xfrm>
            <a:off x="11356181" y="3425130"/>
            <a:ext cx="287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图结构提升推理</a:t>
            </a:r>
            <a:endParaRPr lang="en-US" sz="1275" dirty="0"/>
          </a:p>
        </p:txBody>
      </p:sp>
      <p:sp>
        <p:nvSpPr>
          <p:cNvPr id="40" name="Shape 38"/>
          <p:cNvSpPr/>
          <p:nvPr/>
        </p:nvSpPr>
        <p:spPr>
          <a:xfrm>
            <a:off x="14317266" y="4082355"/>
            <a:ext cx="31323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1" name="Shape 39"/>
          <p:cNvSpPr/>
          <p:nvPr/>
        </p:nvSpPr>
        <p:spPr>
          <a:xfrm>
            <a:off x="17440126" y="32536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2" name="Text 40"/>
          <p:cNvSpPr/>
          <p:nvPr/>
        </p:nvSpPr>
        <p:spPr>
          <a:xfrm>
            <a:off x="14488716" y="3425130"/>
            <a:ext cx="28739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让知识持续沉淀演化</a:t>
            </a:r>
            <a:endParaRPr lang="en-US" sz="1275" dirty="0"/>
          </a:p>
        </p:txBody>
      </p:sp>
      <p:sp>
        <p:nvSpPr>
          <p:cNvPr id="43" name="Shape 41"/>
          <p:cNvSpPr/>
          <p:nvPr/>
        </p:nvSpPr>
        <p:spPr>
          <a:xfrm>
            <a:off x="847725" y="4920555"/>
            <a:ext cx="40720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4" name="Shape 42"/>
          <p:cNvSpPr/>
          <p:nvPr/>
        </p:nvSpPr>
        <p:spPr>
          <a:xfrm>
            <a:off x="4910286" y="40918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5" name="Text 43"/>
          <p:cNvSpPr/>
          <p:nvPr/>
        </p:nvSpPr>
        <p:spPr>
          <a:xfrm>
            <a:off x="1019175" y="4263330"/>
            <a:ext cx="384182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主维护者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4919811" y="4920555"/>
            <a:ext cx="313253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7" name="Shape 45"/>
          <p:cNvSpPr/>
          <p:nvPr/>
        </p:nvSpPr>
        <p:spPr>
          <a:xfrm>
            <a:off x="8042821" y="40918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8" name="Text 46"/>
          <p:cNvSpPr/>
          <p:nvPr/>
        </p:nvSpPr>
        <p:spPr>
          <a:xfrm>
            <a:off x="5091261" y="4263330"/>
            <a:ext cx="287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</a:t>
            </a:r>
            <a:endParaRPr lang="en-US" sz="1275" dirty="0"/>
          </a:p>
        </p:txBody>
      </p:sp>
      <p:sp>
        <p:nvSpPr>
          <p:cNvPr id="49" name="Shape 47"/>
          <p:cNvSpPr/>
          <p:nvPr/>
        </p:nvSpPr>
        <p:spPr>
          <a:xfrm>
            <a:off x="8052346" y="4920555"/>
            <a:ext cx="31323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0" name="Shape 48"/>
          <p:cNvSpPr/>
          <p:nvPr/>
        </p:nvSpPr>
        <p:spPr>
          <a:xfrm>
            <a:off x="11175206" y="40918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1" name="Text 49"/>
          <p:cNvSpPr/>
          <p:nvPr/>
        </p:nvSpPr>
        <p:spPr>
          <a:xfrm>
            <a:off x="8223796" y="4263330"/>
            <a:ext cx="28739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系统索引 + 模型</a:t>
            </a:r>
            <a:endParaRPr lang="en-US" sz="1275" dirty="0"/>
          </a:p>
        </p:txBody>
      </p:sp>
      <p:sp>
        <p:nvSpPr>
          <p:cNvPr id="52" name="Shape 50"/>
          <p:cNvSpPr/>
          <p:nvPr/>
        </p:nvSpPr>
        <p:spPr>
          <a:xfrm>
            <a:off x="11184731" y="4920555"/>
            <a:ext cx="313253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3" name="Shape 51"/>
          <p:cNvSpPr/>
          <p:nvPr/>
        </p:nvSpPr>
        <p:spPr>
          <a:xfrm>
            <a:off x="14307741" y="40918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4" name="Text 52"/>
          <p:cNvSpPr/>
          <p:nvPr/>
        </p:nvSpPr>
        <p:spPr>
          <a:xfrm>
            <a:off x="11356181" y="4263330"/>
            <a:ext cx="287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图管线 + 模型</a:t>
            </a:r>
            <a:endParaRPr lang="en-US" sz="1275" dirty="0"/>
          </a:p>
        </p:txBody>
      </p:sp>
      <p:sp>
        <p:nvSpPr>
          <p:cNvPr id="55" name="Shape 53"/>
          <p:cNvSpPr/>
          <p:nvPr/>
        </p:nvSpPr>
        <p:spPr>
          <a:xfrm>
            <a:off x="14317266" y="4920555"/>
            <a:ext cx="31323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6" name="Shape 54"/>
          <p:cNvSpPr/>
          <p:nvPr/>
        </p:nvSpPr>
        <p:spPr>
          <a:xfrm>
            <a:off x="17440126" y="40918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7" name="Text 55"/>
          <p:cNvSpPr/>
          <p:nvPr/>
        </p:nvSpPr>
        <p:spPr>
          <a:xfrm>
            <a:off x="14488716" y="4263330"/>
            <a:ext cx="28739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LLM 代理 + 人类策展</a:t>
            </a:r>
            <a:endParaRPr lang="en-US" sz="1275" dirty="0"/>
          </a:p>
        </p:txBody>
      </p:sp>
      <p:sp>
        <p:nvSpPr>
          <p:cNvPr id="58" name="Shape 56"/>
          <p:cNvSpPr/>
          <p:nvPr/>
        </p:nvSpPr>
        <p:spPr>
          <a:xfrm>
            <a:off x="847725" y="5758755"/>
            <a:ext cx="40720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9" name="Shape 57"/>
          <p:cNvSpPr/>
          <p:nvPr/>
        </p:nvSpPr>
        <p:spPr>
          <a:xfrm>
            <a:off x="4910286" y="49300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0" name="Text 58"/>
          <p:cNvSpPr/>
          <p:nvPr/>
        </p:nvSpPr>
        <p:spPr>
          <a:xfrm>
            <a:off x="1019175" y="5101530"/>
            <a:ext cx="384182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主存储形态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4919811" y="5758755"/>
            <a:ext cx="313253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2" name="Shape 60"/>
          <p:cNvSpPr/>
          <p:nvPr/>
        </p:nvSpPr>
        <p:spPr>
          <a:xfrm>
            <a:off x="8042821" y="49300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3" name="Text 61"/>
          <p:cNvSpPr/>
          <p:nvPr/>
        </p:nvSpPr>
        <p:spPr>
          <a:xfrm>
            <a:off x="5091261" y="5101530"/>
            <a:ext cx="287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文档 / 页面</a:t>
            </a:r>
            <a:endParaRPr lang="en-US" sz="1275" dirty="0"/>
          </a:p>
        </p:txBody>
      </p:sp>
      <p:sp>
        <p:nvSpPr>
          <p:cNvPr id="64" name="Shape 62"/>
          <p:cNvSpPr/>
          <p:nvPr/>
        </p:nvSpPr>
        <p:spPr>
          <a:xfrm>
            <a:off x="8052346" y="5758755"/>
            <a:ext cx="31323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5" name="Shape 63"/>
          <p:cNvSpPr/>
          <p:nvPr/>
        </p:nvSpPr>
        <p:spPr>
          <a:xfrm>
            <a:off x="11175206" y="49300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6" name="Text 64"/>
          <p:cNvSpPr/>
          <p:nvPr/>
        </p:nvSpPr>
        <p:spPr>
          <a:xfrm>
            <a:off x="8223796" y="5101530"/>
            <a:ext cx="28739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原文切块索引</a:t>
            </a:r>
            <a:endParaRPr lang="en-US" sz="1275" dirty="0"/>
          </a:p>
        </p:txBody>
      </p:sp>
      <p:sp>
        <p:nvSpPr>
          <p:cNvPr id="67" name="Shape 65"/>
          <p:cNvSpPr/>
          <p:nvPr/>
        </p:nvSpPr>
        <p:spPr>
          <a:xfrm>
            <a:off x="11184731" y="5758755"/>
            <a:ext cx="313253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8" name="Shape 66"/>
          <p:cNvSpPr/>
          <p:nvPr/>
        </p:nvSpPr>
        <p:spPr>
          <a:xfrm>
            <a:off x="14307741" y="49300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9" name="Text 67"/>
          <p:cNvSpPr/>
          <p:nvPr/>
        </p:nvSpPr>
        <p:spPr>
          <a:xfrm>
            <a:off x="11356181" y="5101530"/>
            <a:ext cx="287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图谱 + 摘要</a:t>
            </a:r>
            <a:endParaRPr lang="en-US" sz="1275" dirty="0"/>
          </a:p>
        </p:txBody>
      </p:sp>
      <p:sp>
        <p:nvSpPr>
          <p:cNvPr id="70" name="Shape 68"/>
          <p:cNvSpPr/>
          <p:nvPr/>
        </p:nvSpPr>
        <p:spPr>
          <a:xfrm>
            <a:off x="14317266" y="5758755"/>
            <a:ext cx="31323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1" name="Shape 69"/>
          <p:cNvSpPr/>
          <p:nvPr/>
        </p:nvSpPr>
        <p:spPr>
          <a:xfrm>
            <a:off x="17440126" y="49300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2" name="Text 70"/>
          <p:cNvSpPr/>
          <p:nvPr/>
        </p:nvSpPr>
        <p:spPr>
          <a:xfrm>
            <a:off x="14488716" y="5101530"/>
            <a:ext cx="28739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Markdown Wiki + 索引 + 日志</a:t>
            </a:r>
            <a:endParaRPr lang="en-US" sz="1275" dirty="0"/>
          </a:p>
        </p:txBody>
      </p:sp>
      <p:sp>
        <p:nvSpPr>
          <p:cNvPr id="73" name="Shape 71"/>
          <p:cNvSpPr/>
          <p:nvPr/>
        </p:nvSpPr>
        <p:spPr>
          <a:xfrm>
            <a:off x="847725" y="6596955"/>
            <a:ext cx="40720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4" name="Shape 72"/>
          <p:cNvSpPr/>
          <p:nvPr/>
        </p:nvSpPr>
        <p:spPr>
          <a:xfrm>
            <a:off x="4910286" y="57682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5" name="Text 73"/>
          <p:cNvSpPr/>
          <p:nvPr/>
        </p:nvSpPr>
        <p:spPr>
          <a:xfrm>
            <a:off x="1019175" y="5939730"/>
            <a:ext cx="384182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查询对象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4919811" y="6596955"/>
            <a:ext cx="313253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7" name="Shape 75"/>
          <p:cNvSpPr/>
          <p:nvPr/>
        </p:nvSpPr>
        <p:spPr>
          <a:xfrm>
            <a:off x="8042821" y="57682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8" name="Text 76"/>
          <p:cNvSpPr/>
          <p:nvPr/>
        </p:nvSpPr>
        <p:spPr>
          <a:xfrm>
            <a:off x="5091261" y="5939730"/>
            <a:ext cx="287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人写页面</a:t>
            </a:r>
            <a:endParaRPr lang="en-US" sz="1275" dirty="0"/>
          </a:p>
        </p:txBody>
      </p:sp>
      <p:sp>
        <p:nvSpPr>
          <p:cNvPr id="79" name="Shape 77"/>
          <p:cNvSpPr/>
          <p:nvPr/>
        </p:nvSpPr>
        <p:spPr>
          <a:xfrm>
            <a:off x="8052346" y="6596955"/>
            <a:ext cx="31323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80" name="Shape 78"/>
          <p:cNvSpPr/>
          <p:nvPr/>
        </p:nvSpPr>
        <p:spPr>
          <a:xfrm>
            <a:off x="11175206" y="57682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81" name="Text 79"/>
          <p:cNvSpPr/>
          <p:nvPr/>
        </p:nvSpPr>
        <p:spPr>
          <a:xfrm>
            <a:off x="8223796" y="5939730"/>
            <a:ext cx="28739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原始片段</a:t>
            </a:r>
            <a:endParaRPr lang="en-US" sz="1275" dirty="0"/>
          </a:p>
        </p:txBody>
      </p:sp>
      <p:sp>
        <p:nvSpPr>
          <p:cNvPr id="82" name="Shape 80"/>
          <p:cNvSpPr/>
          <p:nvPr/>
        </p:nvSpPr>
        <p:spPr>
          <a:xfrm>
            <a:off x="11184731" y="6596955"/>
            <a:ext cx="313253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83" name="Shape 81"/>
          <p:cNvSpPr/>
          <p:nvPr/>
        </p:nvSpPr>
        <p:spPr>
          <a:xfrm>
            <a:off x="14307741" y="57682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84" name="Text 82"/>
          <p:cNvSpPr/>
          <p:nvPr/>
        </p:nvSpPr>
        <p:spPr>
          <a:xfrm>
            <a:off x="11356181" y="5939730"/>
            <a:ext cx="287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节点 / 社区 / 摘要</a:t>
            </a:r>
            <a:endParaRPr lang="en-US" sz="1275" dirty="0"/>
          </a:p>
        </p:txBody>
      </p:sp>
      <p:sp>
        <p:nvSpPr>
          <p:cNvPr id="85" name="Shape 83"/>
          <p:cNvSpPr/>
          <p:nvPr/>
        </p:nvSpPr>
        <p:spPr>
          <a:xfrm>
            <a:off x="14317266" y="6596955"/>
            <a:ext cx="31323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86" name="Shape 84"/>
          <p:cNvSpPr/>
          <p:nvPr/>
        </p:nvSpPr>
        <p:spPr>
          <a:xfrm>
            <a:off x="17440126" y="57682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87" name="Text 85"/>
          <p:cNvSpPr/>
          <p:nvPr/>
        </p:nvSpPr>
        <p:spPr>
          <a:xfrm>
            <a:off x="14488716" y="5939730"/>
            <a:ext cx="28739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Wiki 页面，必要时回源</a:t>
            </a:r>
            <a:endParaRPr lang="en-US" sz="1275" dirty="0"/>
          </a:p>
        </p:txBody>
      </p:sp>
      <p:sp>
        <p:nvSpPr>
          <p:cNvPr id="88" name="Shape 86"/>
          <p:cNvSpPr/>
          <p:nvPr/>
        </p:nvSpPr>
        <p:spPr>
          <a:xfrm>
            <a:off x="847725" y="7435155"/>
            <a:ext cx="40720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89" name="Shape 87"/>
          <p:cNvSpPr/>
          <p:nvPr/>
        </p:nvSpPr>
        <p:spPr>
          <a:xfrm>
            <a:off x="4910286" y="66064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90" name="Text 88"/>
          <p:cNvSpPr/>
          <p:nvPr/>
        </p:nvSpPr>
        <p:spPr>
          <a:xfrm>
            <a:off x="1019175" y="6777930"/>
            <a:ext cx="384182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长期演化</a:t>
            </a:r>
            <a:endParaRPr lang="en-US" sz="1350" dirty="0"/>
          </a:p>
        </p:txBody>
      </p:sp>
      <p:sp>
        <p:nvSpPr>
          <p:cNvPr id="91" name="Shape 89"/>
          <p:cNvSpPr/>
          <p:nvPr/>
        </p:nvSpPr>
        <p:spPr>
          <a:xfrm>
            <a:off x="4919811" y="7435155"/>
            <a:ext cx="313253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92" name="Shape 90"/>
          <p:cNvSpPr/>
          <p:nvPr/>
        </p:nvSpPr>
        <p:spPr>
          <a:xfrm>
            <a:off x="8042821" y="66064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93" name="Text 91"/>
          <p:cNvSpPr/>
          <p:nvPr/>
        </p:nvSpPr>
        <p:spPr>
          <a:xfrm>
            <a:off x="5091261" y="6777930"/>
            <a:ext cx="287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endParaRPr lang="en-US" sz="1275" dirty="0"/>
          </a:p>
        </p:txBody>
      </p:sp>
      <p:sp>
        <p:nvSpPr>
          <p:cNvPr id="94" name="Shape 92"/>
          <p:cNvSpPr/>
          <p:nvPr/>
        </p:nvSpPr>
        <p:spPr>
          <a:xfrm>
            <a:off x="8052346" y="7435155"/>
            <a:ext cx="31323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95" name="Shape 93"/>
          <p:cNvSpPr/>
          <p:nvPr/>
        </p:nvSpPr>
        <p:spPr>
          <a:xfrm>
            <a:off x="11175206" y="66064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96" name="Text 94"/>
          <p:cNvSpPr/>
          <p:nvPr/>
        </p:nvSpPr>
        <p:spPr>
          <a:xfrm>
            <a:off x="8223796" y="6777930"/>
            <a:ext cx="28739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弱</a:t>
            </a:r>
            <a:endParaRPr lang="en-US" sz="1275" dirty="0"/>
          </a:p>
        </p:txBody>
      </p:sp>
      <p:sp>
        <p:nvSpPr>
          <p:cNvPr id="97" name="Shape 95"/>
          <p:cNvSpPr/>
          <p:nvPr/>
        </p:nvSpPr>
        <p:spPr>
          <a:xfrm>
            <a:off x="11184731" y="7435155"/>
            <a:ext cx="313253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98" name="Shape 96"/>
          <p:cNvSpPr/>
          <p:nvPr/>
        </p:nvSpPr>
        <p:spPr>
          <a:xfrm>
            <a:off x="14307741" y="66064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99" name="Text 97"/>
          <p:cNvSpPr/>
          <p:nvPr/>
        </p:nvSpPr>
        <p:spPr>
          <a:xfrm>
            <a:off x="11356181" y="6777930"/>
            <a:ext cx="287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中等</a:t>
            </a:r>
            <a:endParaRPr lang="en-US" sz="1275" dirty="0"/>
          </a:p>
        </p:txBody>
      </p:sp>
      <p:sp>
        <p:nvSpPr>
          <p:cNvPr id="100" name="Shape 98"/>
          <p:cNvSpPr/>
          <p:nvPr/>
        </p:nvSpPr>
        <p:spPr>
          <a:xfrm>
            <a:off x="14317266" y="7435155"/>
            <a:ext cx="31323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01" name="Shape 99"/>
          <p:cNvSpPr/>
          <p:nvPr/>
        </p:nvSpPr>
        <p:spPr>
          <a:xfrm>
            <a:off x="17440126" y="66064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02" name="Text 100"/>
          <p:cNvSpPr/>
          <p:nvPr/>
        </p:nvSpPr>
        <p:spPr>
          <a:xfrm>
            <a:off x="14488716" y="6777930"/>
            <a:ext cx="28739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强</a:t>
            </a:r>
            <a:endParaRPr lang="en-US" sz="1275" dirty="0"/>
          </a:p>
        </p:txBody>
      </p:sp>
      <p:sp>
        <p:nvSpPr>
          <p:cNvPr id="103" name="Shape 101"/>
          <p:cNvSpPr/>
          <p:nvPr/>
        </p:nvSpPr>
        <p:spPr>
          <a:xfrm>
            <a:off x="847725" y="8273355"/>
            <a:ext cx="40720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910286" y="74446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05" name="Text 103"/>
          <p:cNvSpPr/>
          <p:nvPr/>
        </p:nvSpPr>
        <p:spPr>
          <a:xfrm>
            <a:off x="1019175" y="7616130"/>
            <a:ext cx="384182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人类可读性</a:t>
            </a:r>
            <a:endParaRPr lang="en-US" sz="1350" dirty="0"/>
          </a:p>
        </p:txBody>
      </p:sp>
      <p:sp>
        <p:nvSpPr>
          <p:cNvPr id="106" name="Shape 104"/>
          <p:cNvSpPr/>
          <p:nvPr/>
        </p:nvSpPr>
        <p:spPr>
          <a:xfrm>
            <a:off x="4919811" y="8273355"/>
            <a:ext cx="313253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042821" y="74446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08" name="Text 106"/>
          <p:cNvSpPr/>
          <p:nvPr/>
        </p:nvSpPr>
        <p:spPr>
          <a:xfrm>
            <a:off x="5091261" y="7616130"/>
            <a:ext cx="287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强</a:t>
            </a:r>
            <a:endParaRPr lang="en-US" sz="1275" dirty="0"/>
          </a:p>
        </p:txBody>
      </p:sp>
      <p:sp>
        <p:nvSpPr>
          <p:cNvPr id="109" name="Shape 107"/>
          <p:cNvSpPr/>
          <p:nvPr/>
        </p:nvSpPr>
        <p:spPr>
          <a:xfrm>
            <a:off x="8052346" y="8273355"/>
            <a:ext cx="31323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175206" y="74446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11" name="Text 109"/>
          <p:cNvSpPr/>
          <p:nvPr/>
        </p:nvSpPr>
        <p:spPr>
          <a:xfrm>
            <a:off x="8223796" y="7616130"/>
            <a:ext cx="28739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弱</a:t>
            </a:r>
            <a:endParaRPr lang="en-US" sz="1275" dirty="0"/>
          </a:p>
        </p:txBody>
      </p:sp>
      <p:sp>
        <p:nvSpPr>
          <p:cNvPr id="112" name="Shape 110"/>
          <p:cNvSpPr/>
          <p:nvPr/>
        </p:nvSpPr>
        <p:spPr>
          <a:xfrm>
            <a:off x="11184731" y="8273355"/>
            <a:ext cx="313253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4307741" y="74446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14" name="Text 112"/>
          <p:cNvSpPr/>
          <p:nvPr/>
        </p:nvSpPr>
        <p:spPr>
          <a:xfrm>
            <a:off x="11356181" y="7616130"/>
            <a:ext cx="287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中等</a:t>
            </a:r>
            <a:endParaRPr lang="en-US" sz="1275" dirty="0"/>
          </a:p>
        </p:txBody>
      </p:sp>
      <p:sp>
        <p:nvSpPr>
          <p:cNvPr id="115" name="Shape 113"/>
          <p:cNvSpPr/>
          <p:nvPr/>
        </p:nvSpPr>
        <p:spPr>
          <a:xfrm>
            <a:off x="14317266" y="8273355"/>
            <a:ext cx="31323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7440126" y="74446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17" name="Text 115"/>
          <p:cNvSpPr/>
          <p:nvPr/>
        </p:nvSpPr>
        <p:spPr>
          <a:xfrm>
            <a:off x="14488716" y="7616130"/>
            <a:ext cx="28739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强</a:t>
            </a:r>
            <a:endParaRPr lang="en-US" sz="1275" dirty="0"/>
          </a:p>
        </p:txBody>
      </p:sp>
      <p:sp>
        <p:nvSpPr>
          <p:cNvPr id="118" name="Shape 116"/>
          <p:cNvSpPr/>
          <p:nvPr/>
        </p:nvSpPr>
        <p:spPr>
          <a:xfrm>
            <a:off x="847725" y="9111555"/>
            <a:ext cx="40720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19" name="Shape 117"/>
          <p:cNvSpPr/>
          <p:nvPr/>
        </p:nvSpPr>
        <p:spPr>
          <a:xfrm>
            <a:off x="4910286" y="82828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20" name="Text 118"/>
          <p:cNvSpPr/>
          <p:nvPr/>
        </p:nvSpPr>
        <p:spPr>
          <a:xfrm>
            <a:off x="1019175" y="8454330"/>
            <a:ext cx="384182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自动化维护</a:t>
            </a:r>
            <a:endParaRPr lang="en-US" sz="1350" dirty="0"/>
          </a:p>
        </p:txBody>
      </p:sp>
      <p:sp>
        <p:nvSpPr>
          <p:cNvPr id="121" name="Shape 119"/>
          <p:cNvSpPr/>
          <p:nvPr/>
        </p:nvSpPr>
        <p:spPr>
          <a:xfrm>
            <a:off x="4919811" y="9111555"/>
            <a:ext cx="313253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22" name="Shape 120"/>
          <p:cNvSpPr/>
          <p:nvPr/>
        </p:nvSpPr>
        <p:spPr>
          <a:xfrm>
            <a:off x="8042821" y="82828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23" name="Text 121"/>
          <p:cNvSpPr/>
          <p:nvPr/>
        </p:nvSpPr>
        <p:spPr>
          <a:xfrm>
            <a:off x="5091261" y="8454330"/>
            <a:ext cx="287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弱</a:t>
            </a:r>
            <a:endParaRPr lang="en-US" sz="1275" dirty="0"/>
          </a:p>
        </p:txBody>
      </p:sp>
      <p:sp>
        <p:nvSpPr>
          <p:cNvPr id="124" name="Shape 122"/>
          <p:cNvSpPr/>
          <p:nvPr/>
        </p:nvSpPr>
        <p:spPr>
          <a:xfrm>
            <a:off x="8052346" y="9111555"/>
            <a:ext cx="31323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1175206" y="82828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26" name="Text 124"/>
          <p:cNvSpPr/>
          <p:nvPr/>
        </p:nvSpPr>
        <p:spPr>
          <a:xfrm>
            <a:off x="8223796" y="8454330"/>
            <a:ext cx="28739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中等</a:t>
            </a:r>
            <a:endParaRPr lang="en-US" sz="1275" dirty="0"/>
          </a:p>
        </p:txBody>
      </p:sp>
      <p:sp>
        <p:nvSpPr>
          <p:cNvPr id="127" name="Shape 125"/>
          <p:cNvSpPr/>
          <p:nvPr/>
        </p:nvSpPr>
        <p:spPr>
          <a:xfrm>
            <a:off x="11184731" y="9111555"/>
            <a:ext cx="313253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4307741" y="82828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29" name="Text 127"/>
          <p:cNvSpPr/>
          <p:nvPr/>
        </p:nvSpPr>
        <p:spPr>
          <a:xfrm>
            <a:off x="11356181" y="8454330"/>
            <a:ext cx="287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中等偏强</a:t>
            </a:r>
            <a:endParaRPr lang="en-US" sz="1275" dirty="0"/>
          </a:p>
        </p:txBody>
      </p:sp>
      <p:sp>
        <p:nvSpPr>
          <p:cNvPr id="130" name="Shape 128"/>
          <p:cNvSpPr/>
          <p:nvPr/>
        </p:nvSpPr>
        <p:spPr>
          <a:xfrm>
            <a:off x="14317266" y="9111555"/>
            <a:ext cx="3132386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31" name="Shape 129"/>
          <p:cNvSpPr/>
          <p:nvPr/>
        </p:nvSpPr>
        <p:spPr>
          <a:xfrm>
            <a:off x="17440126" y="8282880"/>
            <a:ext cx="9525" cy="838200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32" name="Text 130"/>
          <p:cNvSpPr/>
          <p:nvPr/>
        </p:nvSpPr>
        <p:spPr>
          <a:xfrm>
            <a:off x="14488716" y="8454330"/>
            <a:ext cx="287393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强</a:t>
            </a:r>
            <a:endParaRPr lang="en-US" sz="1275" dirty="0"/>
          </a:p>
        </p:txBody>
      </p:sp>
      <p:sp>
        <p:nvSpPr>
          <p:cNvPr id="133" name="Text 131"/>
          <p:cNvSpPr/>
          <p:nvPr/>
        </p:nvSpPr>
        <p:spPr>
          <a:xfrm>
            <a:off x="838200" y="9867900"/>
            <a:ext cx="13046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P01 · MATRIX</a:t>
            </a:r>
            <a:endParaRPr lang="en-US" sz="825" dirty="0"/>
          </a:p>
        </p:txBody>
      </p:sp>
      <p:sp>
        <p:nvSpPr>
          <p:cNvPr id="134" name="Text 132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46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5497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STRENGTHS &amp; RISKS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632436" y="304800"/>
            <a:ext cx="8935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它的好与代价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优势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824103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它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强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在哪。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348805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2586930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+ 01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38200" y="2786955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知识会复利 —— 每次摄取都让知识库更强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" y="3291780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+ 02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38200" y="3491805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长期主题研究效果更好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8200" y="3996630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+ 03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38200" y="4196655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人类可读性强，Git / Obsidian 即用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8200" y="4701480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+ 04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38200" y="4901505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天然支持人机协作的知识管理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200" y="5406330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+ 05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838200" y="5606355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可作为更高质量 RAG 的上游语料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48800" y="1333500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· 风险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9448800" y="1638300"/>
            <a:ext cx="824103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代价是什么。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9448800" y="2348805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0" name="Text 18"/>
          <p:cNvSpPr/>
          <p:nvPr/>
        </p:nvSpPr>
        <p:spPr>
          <a:xfrm>
            <a:off x="9448800" y="2586930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01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9448800" y="2786955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高度依赖模型质量，差模型会写出错误归纳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48800" y="3291780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02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9448800" y="3491805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摄取阶段引入"解释层"，会偏离原文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48800" y="3996630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03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9448800" y="4196655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规模增长后必须更强的 schema / lint 治理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48800" y="4701480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04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9448800" y="4901505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非强结构数据库，不擅长精准结构化场景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48800" y="5406330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05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9448800" y="5606355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Wiki 越完整，越容易制造"看起来很懂"的幻觉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8200" y="9867900"/>
            <a:ext cx="163145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P01 · TRADE-OFFS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46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8563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 CASES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963900" y="304800"/>
            <a:ext cx="15621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适合什么 / 不适合什么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· 适用边界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不是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银弹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，但有清晰的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命中区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463105"/>
            <a:ext cx="1051620" cy="333375"/>
          </a:xfrm>
          <a:prstGeom prst="rect">
            <a:avLst/>
          </a:prstGeom>
          <a:solidFill>
            <a:srgbClr val="F5F3EE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2025" y="2591693"/>
            <a:ext cx="76200" cy="76200"/>
          </a:xfrm>
          <a:prstGeom prst="ellipse">
            <a:avLst/>
          </a:prstGeom>
          <a:solidFill>
            <a:srgbClr val="B6633A"/>
          </a:solidFill>
          <a:ln/>
        </p:spPr>
      </p:sp>
      <p:sp>
        <p:nvSpPr>
          <p:cNvPr id="8" name="Text 6"/>
          <p:cNvSpPr/>
          <p:nvPr/>
        </p:nvSpPr>
        <p:spPr>
          <a:xfrm>
            <a:off x="1114425" y="2558355"/>
            <a:ext cx="7277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适合的场景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38200" y="2967930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48905"/>
            <a:ext cx="800100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20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个人长期学习、研究型阅读</a:t>
            </a:r>
            <a:endParaRPr lang="en-US" sz="1500" dirty="0"/>
          </a:p>
          <a:p>
            <a:pPr algn="l" marL="133350" indent="-133350">
              <a:lnSpc>
                <a:spcPct val="20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多来源专题追踪、文献综合</a:t>
            </a:r>
            <a:endParaRPr lang="en-US" sz="1500" dirty="0"/>
          </a:p>
          <a:p>
            <a:pPr algn="l" marL="133350" indent="-133350">
              <a:lnSpc>
                <a:spcPct val="20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访谈 / 会议 / 文章的长期沉淀</a:t>
            </a:r>
            <a:endParaRPr lang="en-US" sz="1500" dirty="0"/>
          </a:p>
          <a:p>
            <a:pPr algn="l" marL="133350" indent="-133350">
              <a:lnSpc>
                <a:spcPct val="20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团队内部知识整理与维护</a:t>
            </a:r>
            <a:endParaRPr lang="en-US" sz="1500" dirty="0"/>
          </a:p>
          <a:p>
            <a:pPr algn="l" marL="133350" indent="-133350">
              <a:lnSpc>
                <a:spcPct val="20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需要不断迭代判断的研究类工作</a:t>
            </a:r>
            <a:endParaRPr lang="en-US" sz="1500" dirty="0"/>
          </a:p>
          <a:p>
            <a:pPr algn="l" marL="133350" indent="-133350">
              <a:lnSpc>
                <a:spcPct val="20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作为更高质量的 RAG 上游语料层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448800" y="2463105"/>
            <a:ext cx="1312218" cy="333375"/>
          </a:xfrm>
          <a:prstGeom prst="rect">
            <a:avLst/>
          </a:prstGeom>
          <a:solidFill>
            <a:srgbClr val="F5F3EE"/>
          </a:solidFill>
          <a:ln w="9525">
            <a:solidFill>
              <a:srgbClr val="6C70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72625" y="2591693"/>
            <a:ext cx="76200" cy="76200"/>
          </a:xfrm>
          <a:prstGeom prst="ellipse">
            <a:avLst/>
          </a:prstGeom>
          <a:solidFill>
            <a:srgbClr val="6C707A"/>
          </a:solidFill>
          <a:ln/>
        </p:spPr>
      </p:sp>
      <p:sp>
        <p:nvSpPr>
          <p:cNvPr id="13" name="Text 11"/>
          <p:cNvSpPr/>
          <p:nvPr/>
        </p:nvSpPr>
        <p:spPr>
          <a:xfrm>
            <a:off x="9725025" y="2558355"/>
            <a:ext cx="9883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不太适合的场景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448800" y="2967930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0" y="3148905"/>
            <a:ext cx="80010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20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只做一次性问答、不需要沉淀</a:t>
            </a:r>
            <a:endParaRPr lang="en-US" sz="1500" dirty="0"/>
          </a:p>
          <a:p>
            <a:pPr algn="l" marL="133350" indent="-133350">
              <a:lnSpc>
                <a:spcPct val="20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对原文召回精度极高、不能容忍"摘要变换"</a:t>
            </a:r>
            <a:endParaRPr lang="en-US" sz="1500" dirty="0"/>
          </a:p>
          <a:p>
            <a:pPr algn="l" marL="133350" indent="-133350">
              <a:lnSpc>
                <a:spcPct val="20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主要是结构化表格而非文本知识</a:t>
            </a:r>
            <a:endParaRPr lang="en-US" sz="1500" dirty="0"/>
          </a:p>
          <a:p>
            <a:pPr algn="l" marL="133350" indent="-133350">
              <a:lnSpc>
                <a:spcPct val="20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资料量极大但缺少策展与治理能力</a:t>
            </a:r>
            <a:endParaRPr lang="en-US" sz="1500" dirty="0"/>
          </a:p>
          <a:p>
            <a:pPr algn="l" marL="133350" indent="-133350">
              <a:lnSpc>
                <a:spcPct val="20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对实时性要求极高、不能容忍"先编译"延迟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8200" y="9867900"/>
            <a:ext cx="105950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P01 · FIT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46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2031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8E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02 OF 05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431393" y="304800"/>
            <a:ext cx="20946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8E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具体实现 · IMPLEMENTATION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4191000"/>
            <a:ext cx="1716024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spc="-300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838200" y="6400800"/>
            <a:ext cx="17109948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spc="189" kern="0" dirty="0">
                <a:solidFill>
                  <a:srgbClr val="E08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02 / 实现层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200" y="6792218"/>
            <a:ext cx="1177290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F5F3E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llm_wiki：把方法论做成一个可运行的桌面系统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838200" y="8445698"/>
            <a:ext cx="107918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摄取队列 · 多模态 · 图谱 · 向量 · 治理 · 浏览器剪藏 —— 一套完整工作流。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38200" y="9867900"/>
            <a:ext cx="14680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7C7C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7C7C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46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0297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 MAP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124783" y="304800"/>
            <a:ext cx="140121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LLM_WIKI 整体形态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· 项目形态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 Tauri v2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本地优先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桌面应用。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405955"/>
            <a:ext cx="40100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2644080"/>
            <a:ext cx="41303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8200" y="2872680"/>
            <a:ext cx="41303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React 19 · 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" y="3263205"/>
            <a:ext cx="4130326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Vite · Tailwind v4 · shadcn/ui · Zustand · Milkdown 编辑器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5038725" y="2405955"/>
            <a:ext cx="40100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1" name="Text 9"/>
          <p:cNvSpPr/>
          <p:nvPr/>
        </p:nvSpPr>
        <p:spPr>
          <a:xfrm>
            <a:off x="5038725" y="2644080"/>
            <a:ext cx="41303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38725" y="2872680"/>
            <a:ext cx="41303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sigma.js · graphology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38725" y="3263205"/>
            <a:ext cx="4130326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ForceAtlas2 布局 · Louvain 社区检测 · 图谱可视化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9239250" y="2405955"/>
            <a:ext cx="40100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5" name="Text 13"/>
          <p:cNvSpPr/>
          <p:nvPr/>
        </p:nvSpPr>
        <p:spPr>
          <a:xfrm>
            <a:off x="9239250" y="2644080"/>
            <a:ext cx="41303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239250" y="2872680"/>
            <a:ext cx="41303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Rust · Tauri Cmd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39250" y="3263205"/>
            <a:ext cx="4130326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本地文件系统 · Office/PDF 提取 · 子进程 · 剪藏服务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13439775" y="2405955"/>
            <a:ext cx="40100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9" name="Text 17"/>
          <p:cNvSpPr/>
          <p:nvPr/>
        </p:nvSpPr>
        <p:spPr>
          <a:xfrm>
            <a:off x="13439775" y="2644080"/>
            <a:ext cx="41303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439775" y="2872680"/>
            <a:ext cx="41303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LanceDB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439775" y="3263205"/>
            <a:ext cx="4130326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本地向量库 · chunk 级别索引 · OpenAI 兼容 embedding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838200" y="4352627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200" y="4705052"/>
            <a:ext cx="40100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" y="4943177"/>
            <a:ext cx="41303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8200" y="5171777"/>
            <a:ext cx="41303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Provider 抽象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8200" y="5562302"/>
            <a:ext cx="4130326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OpenAI · Anthropic · Gemini · Ollama · Claude CLI · 自定义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5038725" y="4705052"/>
            <a:ext cx="40100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8" name="Text 26"/>
          <p:cNvSpPr/>
          <p:nvPr/>
        </p:nvSpPr>
        <p:spPr>
          <a:xfrm>
            <a:off x="5038725" y="4943177"/>
            <a:ext cx="41303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CLIPPER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38725" y="5171777"/>
            <a:ext cx="41303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Chrome Ext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38725" y="5562302"/>
            <a:ext cx="4130326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Readability + Turndown，本地 :19827 接收剪藏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9239250" y="4705052"/>
            <a:ext cx="40100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2" name="Text 30"/>
          <p:cNvSpPr/>
          <p:nvPr/>
        </p:nvSpPr>
        <p:spPr>
          <a:xfrm>
            <a:off x="9239250" y="4943177"/>
            <a:ext cx="41303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RESEARCH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39250" y="5171777"/>
            <a:ext cx="41303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Deep Research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239250" y="5562302"/>
            <a:ext cx="4130326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Tavily / SerpApi 综合 · 自动 ingest 研究页</a:t>
            </a:r>
            <a:endParaRPr lang="en-US" sz="1275" dirty="0"/>
          </a:p>
        </p:txBody>
      </p:sp>
      <p:sp>
        <p:nvSpPr>
          <p:cNvPr id="35" name="Shape 33"/>
          <p:cNvSpPr/>
          <p:nvPr/>
        </p:nvSpPr>
        <p:spPr>
          <a:xfrm>
            <a:off x="13439775" y="4705052"/>
            <a:ext cx="40100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6" name="Text 34"/>
          <p:cNvSpPr/>
          <p:nvPr/>
        </p:nvSpPr>
        <p:spPr>
          <a:xfrm>
            <a:off x="13439775" y="4943177"/>
            <a:ext cx="41303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439775" y="5171777"/>
            <a:ext cx="41303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Lint · Review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439775" y="5562302"/>
            <a:ext cx="4130326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结构 / 语义双层检查 · 人审队列 · 活动面板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838200" y="9867900"/>
            <a:ext cx="105950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P02 · MAP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46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0297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FOUR LAYERS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579923" y="304800"/>
            <a:ext cx="194607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交互 · 业务 · 状态 · 系统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· 前后端分层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把它理解成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四层垂直堆叠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405955"/>
            <a:ext cx="166116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6325" y="2667893"/>
            <a:ext cx="16002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A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076325" y="2867918"/>
            <a:ext cx="1600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交互层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28925" y="2781300"/>
            <a:ext cx="1143933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三栏布局、聊天、文件树、预览、图谱、设置、研究面板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14072235" y="2739330"/>
            <a:ext cx="31394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4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components/* (chat / sources / graph / lint / review / settings)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8200" y="3548955"/>
            <a:ext cx="166116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B663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6325" y="3810893"/>
            <a:ext cx="16002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B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76325" y="4010918"/>
            <a:ext cx="1600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业务逻辑层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28925" y="3924300"/>
            <a:ext cx="1143933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摄取 · 搜索 · 治理 · 深度研究 · 嵌入 · 图谱关联 · 图谱洞察 ── 真正的核心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4072235" y="3882330"/>
            <a:ext cx="31394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4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lib/ ingest · search · lint · deep-research · embedding · wiki-graph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8200" y="4691955"/>
            <a:ext cx="166116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6325" y="4953893"/>
            <a:ext cx="16002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C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076325" y="5153918"/>
            <a:ext cx="1600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状态与持久化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828925" y="5067300"/>
            <a:ext cx="1143933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Wiki / Chat / Review / Research / Activity store；本地持久化与项目状态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4072235" y="5025330"/>
            <a:ext cx="31394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4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stores/* + lib/persist + lib/project-store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8200" y="5834955"/>
            <a:ext cx="166116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6325" y="6096893"/>
            <a:ext cx="16002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D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076325" y="6296918"/>
            <a:ext cx="1600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本地系统能力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828925" y="6210300"/>
            <a:ext cx="1143933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Tauri Command 暴露的本地文件、Office/PDF 提取、向量库、CLI 子进程、剪藏服务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4072235" y="6168330"/>
            <a:ext cx="31394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4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commands/fs · project · vectorstore · clip_server · claude_cli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8200" y="9867900"/>
            <a:ext cx="13046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P02 · LAYERS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46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8563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WORKSPACE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496258" y="304800"/>
            <a:ext cx="10297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知识库目录结构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· 数据结构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8241030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单个 Wiki 项目 长这样。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868811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3145036"/>
            <a:ext cx="8241030" cy="2238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除了原始的 Raw / Wiki / Schema 三层， 新增一个非常重要的 </a:t>
            </a:r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purpose.md </a:t>
            </a:r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： ◦ schema.md → 怎么组织 ◦ purpose.md → 为什么做、当前研究目标 让 LLM 不只是按结构写，更是按</a:t>
            </a:r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方向</a:t>
            </a:r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448800" y="1333500"/>
            <a:ext cx="8001000" cy="54212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448800" y="6745188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1333500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1" name="Shape 9"/>
          <p:cNvSpPr/>
          <p:nvPr/>
        </p:nvSpPr>
        <p:spPr>
          <a:xfrm>
            <a:off x="9448800" y="1333500"/>
            <a:ext cx="28575" cy="5421213"/>
          </a:xfrm>
          <a:prstGeom prst="rect">
            <a:avLst/>
          </a:prstGeom>
          <a:solidFill>
            <a:srgbClr val="B6633A"/>
          </a:solidFill>
          <a:ln/>
        </p:spPr>
      </p:sp>
      <p:sp>
        <p:nvSpPr>
          <p:cNvPr id="12" name="Shape 10"/>
          <p:cNvSpPr/>
          <p:nvPr/>
        </p:nvSpPr>
        <p:spPr>
          <a:xfrm>
            <a:off x="17440275" y="1333500"/>
            <a:ext cx="9525" cy="5421213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3" name="Text 11"/>
          <p:cNvSpPr/>
          <p:nvPr/>
        </p:nvSpPr>
        <p:spPr>
          <a:xfrm>
            <a:off x="9686925" y="1514475"/>
            <a:ext cx="7783830" cy="5097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my-wiki/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 purpose.md          ← 当前研究目标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 schema.md           ← 结构 / 命名 / 流程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 raw/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├─ sources/         ← 原始资料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└─ assets/          ← 附件 / 图片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 wiki/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├─ index.md         ← 检索入口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├─ log.md           ← 演化轨迹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├─ overview.md      ← 主索引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├─ entities/        ← 实体页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├─ concepts/        ← 概念页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├─ sources/         ← 来源摘要页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├─ queries/         ← 研究 / 问答页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├─ synthesis/       ← 综合判断页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└─ comparisons/     ← 对比页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 .obsidian/          ← Obsidian 兼容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 .llm-wiki/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├─ chats/           ← 多会话历史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├─ review.json      ← 审核队列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├─ ingest-queue.json← 摄取任务队列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├─ lancedb/         ← 本地向量库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└─ ...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8200" y="9867900"/>
            <a:ext cx="154974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P02 · WORKSPACE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/ 46</a:t>
            </a:r>
            <a:endParaRPr lang="en-US" sz="8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3763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INGEST PIPELINE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496258" y="304800"/>
            <a:ext cx="10297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整个系统的核心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· 摄取流程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 ingest 当成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事务性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的后台任务。</a:t>
            </a:r>
            <a:endParaRPr lang="en-US" sz="3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463105"/>
            <a:ext cx="16611600" cy="27359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8200" y="5589538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8" name="Text 5"/>
          <p:cNvSpPr/>
          <p:nvPr/>
        </p:nvSpPr>
        <p:spPr>
          <a:xfrm>
            <a:off x="838200" y="5827663"/>
            <a:ext cx="413032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特征 01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838200" y="6161038"/>
            <a:ext cx="4130326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串行处理 · 持久化队列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5038725" y="5827663"/>
            <a:ext cx="413032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特征 02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5038725" y="6161038"/>
            <a:ext cx="4130326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支持取消 · 失败重试 · 崩溃恢复</a:t>
            </a:r>
            <a:endParaRPr lang="en-US" sz="1275" dirty="0"/>
          </a:p>
        </p:txBody>
      </p:sp>
      <p:sp>
        <p:nvSpPr>
          <p:cNvPr id="12" name="Text 9"/>
          <p:cNvSpPr/>
          <p:nvPr/>
        </p:nvSpPr>
        <p:spPr>
          <a:xfrm>
            <a:off x="9239250" y="5827663"/>
            <a:ext cx="413032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特征 03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9239250" y="6161038"/>
            <a:ext cx="4130326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SHA 缓存避免重复调用模型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13439775" y="5827663"/>
            <a:ext cx="413032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特征 04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13439775" y="6161038"/>
            <a:ext cx="4130326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两阶段（分析 / 生成）拆分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838200" y="9867900"/>
            <a:ext cx="13046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P02 · INGEST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/ 46</a:t>
            </a:r>
            <a:endParaRPr lang="en-US" sz="8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46312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TWO-PHASE INGEST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558171" y="304800"/>
            <a:ext cx="9678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分析 VS 生成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· 两阶段摄取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把"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边想边写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"拆成"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先想，后写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405955"/>
            <a:ext cx="8077200" cy="4101108"/>
          </a:xfrm>
          <a:prstGeom prst="rect">
            <a:avLst/>
          </a:prstGeom>
          <a:solidFill>
            <a:srgbClr val="FFFFFF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475" y="2682180"/>
            <a:ext cx="77112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01 ·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475" y="2910780"/>
            <a:ext cx="77112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buildAnalysisPrompt()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33475" y="3406080"/>
            <a:ext cx="771125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让模型只输出结构化分析，不写文件：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1203960" y="3826966"/>
            <a:ext cx="7492365" cy="1495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关键实体 / 关键概念</a:t>
            </a:r>
            <a:endParaRPr lang="en-US" sz="1350" dirty="0"/>
          </a:p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主要论点与发现</a:t>
            </a:r>
            <a:endParaRPr lang="en-US" sz="1350" dirty="0"/>
          </a:p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与现有 Wiki 的连接点</a:t>
            </a:r>
            <a:endParaRPr lang="en-US" sz="1350" dirty="0"/>
          </a:p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潜在冲突与张力</a:t>
            </a:r>
            <a:endParaRPr lang="en-US" sz="1350" dirty="0"/>
          </a:p>
          <a:p>
            <a:pPr algn="l" marL="120015" indent="-120015">
              <a:lnSpc>
                <a:spcPct val="17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应该新建 / 更新哪些页面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372600" y="2405955"/>
            <a:ext cx="8077200" cy="4101108"/>
          </a:xfrm>
          <a:prstGeom prst="rect">
            <a:avLst/>
          </a:prstGeom>
          <a:solidFill>
            <a:srgbClr val="FFF8F3"/>
          </a:solidFill>
          <a:ln w="9525">
            <a:solidFill>
              <a:srgbClr val="B663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67875" y="2682180"/>
            <a:ext cx="77112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02 · GENERATION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67875" y="2910780"/>
            <a:ext cx="77112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buildGenerationPrompt()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67875" y="3406080"/>
            <a:ext cx="771125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让模型严格按格式输出可解析块：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9667875" y="3826966"/>
            <a:ext cx="7486650" cy="24038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67875" y="6221313"/>
            <a:ext cx="748665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7" name="Shape 15"/>
          <p:cNvSpPr/>
          <p:nvPr/>
        </p:nvSpPr>
        <p:spPr>
          <a:xfrm>
            <a:off x="9667875" y="3826966"/>
            <a:ext cx="748665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8" name="Shape 16"/>
          <p:cNvSpPr/>
          <p:nvPr/>
        </p:nvSpPr>
        <p:spPr>
          <a:xfrm>
            <a:off x="9667875" y="3826966"/>
            <a:ext cx="28575" cy="2403872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9" name="Shape 17"/>
          <p:cNvSpPr/>
          <p:nvPr/>
        </p:nvSpPr>
        <p:spPr>
          <a:xfrm>
            <a:off x="17145000" y="3826966"/>
            <a:ext cx="9525" cy="2403872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0" y="4007941"/>
            <a:ext cx="7254050" cy="2080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---FILE: wiki/sources/example.md ---</a:t>
            </a: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title: "..."</a:t>
            </a: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type: source</a:t>
            </a: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sources: [raw/articles/example.pdf]</a:t>
            </a: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...</a:t>
            </a: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---REVIEW: conflict ---</a:t>
            </a: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page: wiki/concepts/foo.md</a:t>
            </a: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1A1D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note: "新来源与旧结论冲突"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838200" y="6811863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2" name="Text 20"/>
          <p:cNvSpPr/>
          <p:nvPr/>
        </p:nvSpPr>
        <p:spPr>
          <a:xfrm>
            <a:off x="838200" y="7069038"/>
            <a:ext cx="17109948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把"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思考结构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"和"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产物生成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"分开， 模型不容易边写边漂移，调试也容易得多。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38200" y="9867900"/>
            <a:ext cx="154974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P02 · TWO-PHASE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/ 46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7231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SAFETY &amp; MULTIMODAL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419040" y="304800"/>
            <a:ext cx="21069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解析 · 合并 · 视觉 CAPTION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· 安全解析与写回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8241030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不把 LLM 当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"可信写盘器"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830711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876300" y="3068836"/>
            <a:ext cx="819778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185000"/>
              </a:lnSpc>
              <a:buSzPct val="100000"/>
              <a:buChar char="•"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parseFileBlocks()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严格切分每个 FILE 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6300" y="3421261"/>
            <a:ext cx="819778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185000"/>
              </a:lnSpc>
              <a:buSzPct val="100000"/>
              <a:buChar char="•"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isSafeIngestPath()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拒绝 </a:t>
            </a:r>
            <a:pPr algn="l"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/ 绝对路径 / 越界写入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6300" y="3773686"/>
            <a:ext cx="819778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185000"/>
              </a:lnSpc>
              <a:buSzPct val="100000"/>
              <a:buChar char="•"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sanitizeIngestedFileContent()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清理围栏 / 截断异常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4126111"/>
            <a:ext cx="819778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185000"/>
              </a:lnSpc>
              <a:buSzPct val="100000"/>
              <a:buChar char="•"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mergePageContent()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智能合并旧页，而非粗暴覆盖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6300" y="4478536"/>
            <a:ext cx="819778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185000"/>
              </a:lnSpc>
              <a:buSzPct val="100000"/>
              <a:buChar char="•"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page-history </a:t>
            </a:r>
            <a:pPr algn="l" indent="0" marL="0">
              <a:lnSpc>
                <a:spcPct val="18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自动备份每次修改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8200" y="5002411"/>
            <a:ext cx="824103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即模型是"候选内容生成器"，不是直接写盘的最终权威。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9448800" y="1333500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· 多模态增强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448800" y="1638300"/>
            <a:ext cx="8241030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非文本知识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也编译进 Wiki。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9448800" y="2830711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6" name="Text 14"/>
          <p:cNvSpPr/>
          <p:nvPr/>
        </p:nvSpPr>
        <p:spPr>
          <a:xfrm>
            <a:off x="9448800" y="3068836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9448800" y="3268861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 PDF / Office 抽取内嵌图片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48800" y="3773686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9448800" y="3973711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保存到 wiki/media/&lt;source-slug&gt;/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48800" y="4478536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9448800" y="4678561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视觉模型生成 factual caption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48800" y="5183386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04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9448800" y="5383411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caption 注入摘要页 + 进入 embedding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48800" y="5907286"/>
            <a:ext cx="824103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让"图里的知识"也能被检索、被引用。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838200" y="9867900"/>
            <a:ext cx="13046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P02 · SAFETY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/ 46</a:t>
            </a:r>
            <a:endParaRPr lang="en-US" sz="8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50958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889486" y="304800"/>
            <a:ext cx="16365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多会话聊天 + 受控 RAG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· 查询与聊天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不是"问答框"，是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研究工作台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38200" y="2463105"/>
            <a:ext cx="906513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查询时上下文组装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852488" y="2748855"/>
            <a:ext cx="8863013" cy="193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4313" indent="-214313">
              <a:lnSpc>
                <a:spcPct val="190000"/>
              </a:lnSpc>
              <a:buSzPct val="100000"/>
              <a:buFont typeface="+mj-lt"/>
              <a:buAutoNum type="arabicPeriod" startAt="1"/>
              <a:tabLst>
                <a:tab pos="214313" algn="l"/>
              </a:tabLst>
            </a:pPr>
            <a:r>
              <a:rPr lang="en-US" sz="1125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读取 purpose.md 与 wiki/index.md</a:t>
            </a:r>
            <a:endParaRPr lang="en-US" sz="1125" dirty="0"/>
          </a:p>
          <a:p>
            <a:pPr algn="l" marL="214313" indent="-214313">
              <a:lnSpc>
                <a:spcPct val="190000"/>
              </a:lnSpc>
              <a:buSzPct val="100000"/>
              <a:buFont typeface="+mj-lt"/>
              <a:buAutoNum type="arabicPeriod" startAt="2"/>
              <a:tabLst>
                <a:tab pos="214313" algn="l"/>
              </a:tabLst>
            </a:pPr>
            <a:r>
              <a:rPr lang="en-US" sz="1125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执行 searchWiki()</a:t>
            </a:r>
            <a:endParaRPr lang="en-US" sz="1125" dirty="0"/>
          </a:p>
          <a:p>
            <a:pPr algn="l" marL="214313" indent="-214313">
              <a:lnSpc>
                <a:spcPct val="190000"/>
              </a:lnSpc>
              <a:buSzPct val="100000"/>
              <a:buFont typeface="+mj-lt"/>
              <a:buAutoNum type="arabicPeriod" startAt="3"/>
              <a:tabLst>
                <a:tab pos="214313" algn="l"/>
              </a:tabLst>
            </a:pPr>
            <a:r>
              <a:rPr lang="en-US" sz="1125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取 top-K 搜索结果</a:t>
            </a:r>
            <a:endParaRPr lang="en-US" sz="1125" dirty="0"/>
          </a:p>
          <a:p>
            <a:pPr algn="l" marL="214313" indent="-214313">
              <a:lnSpc>
                <a:spcPct val="190000"/>
              </a:lnSpc>
              <a:buSzPct val="100000"/>
              <a:buFont typeface="+mj-lt"/>
              <a:buAutoNum type="arabicPeriod" startAt="4"/>
              <a:tabLst>
                <a:tab pos="214313" algn="l"/>
              </a:tabLst>
            </a:pPr>
            <a:r>
              <a:rPr lang="en-US" sz="1125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按 retrieval graph 扩展相关节点</a:t>
            </a:r>
            <a:endParaRPr lang="en-US" sz="1125" dirty="0"/>
          </a:p>
          <a:p>
            <a:pPr algn="l" marL="214313" indent="-214313">
              <a:lnSpc>
                <a:spcPct val="190000"/>
              </a:lnSpc>
              <a:buSzPct val="100000"/>
              <a:buFont typeface="+mj-lt"/>
              <a:buAutoNum type="arabicPeriod" startAt="5"/>
              <a:tabLst>
                <a:tab pos="214313" algn="l"/>
              </a:tabLst>
            </a:pPr>
            <a:r>
              <a:rPr lang="en-US" sz="1125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按 computeContextBudget() 分配预算</a:t>
            </a:r>
            <a:endParaRPr lang="en-US" sz="1125" dirty="0"/>
          </a:p>
          <a:p>
            <a:pPr algn="l" marL="214313" indent="-214313">
              <a:lnSpc>
                <a:spcPct val="190000"/>
              </a:lnSpc>
              <a:buSzPct val="100000"/>
              <a:buFont typeface="+mj-lt"/>
              <a:buAutoNum type="arabicPeriod" startAt="6"/>
              <a:tabLst>
                <a:tab pos="214313" algn="l"/>
              </a:tabLst>
            </a:pPr>
            <a:r>
              <a:rPr lang="en-US" sz="1125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把候选页编号后拼入提示词</a:t>
            </a:r>
            <a:endParaRPr lang="en-US" sz="1125" dirty="0"/>
          </a:p>
          <a:p>
            <a:pPr algn="l" marL="214313" indent="-214313">
              <a:lnSpc>
                <a:spcPct val="190000"/>
              </a:lnSpc>
              <a:buSzPct val="100000"/>
              <a:buFont typeface="+mj-lt"/>
              <a:buAutoNum type="arabicPeriod" startAt="7"/>
              <a:tabLst>
                <a:tab pos="214313" algn="l"/>
              </a:tabLst>
            </a:pPr>
            <a:r>
              <a:rPr lang="en-US" sz="1125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要求模型仅基于这些页面作答并标注引用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0248900" y="2463105"/>
            <a:ext cx="74169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分层混合搜索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10248900" y="2748855"/>
            <a:ext cx="72009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0" name="Text 8"/>
          <p:cNvSpPr/>
          <p:nvPr/>
        </p:nvSpPr>
        <p:spPr>
          <a:xfrm>
            <a:off x="10248900" y="2967930"/>
            <a:ext cx="1616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86727" y="2929830"/>
            <a:ext cx="6858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分词搜索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486727" y="3148905"/>
            <a:ext cx="717196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基础 token 命中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248900" y="3560266"/>
            <a:ext cx="1616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486727" y="3522166"/>
            <a:ext cx="12954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标题精确匹配加权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86727" y="3741241"/>
            <a:ext cx="717196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高权重命中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0248900" y="4152602"/>
            <a:ext cx="1616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486727" y="4114502"/>
            <a:ext cx="130775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CJK bigram 分词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86727" y="4333577"/>
            <a:ext cx="717196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中日韩文本友好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0248900" y="4744938"/>
            <a:ext cx="1616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486727" y="4706838"/>
            <a:ext cx="9906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图片引用抽取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486727" y="4925913"/>
            <a:ext cx="717196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视觉内容也参与召回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0248900" y="5337274"/>
            <a:ext cx="1616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486727" y="5299174"/>
            <a:ext cx="144839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RRF 融合向量+词法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486727" y="5518249"/>
            <a:ext cx="7171965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Reciprocal Rank Fusion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838200" y="9867900"/>
            <a:ext cx="122292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P02 · QUERY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/ 46</a:t>
            </a:r>
            <a:endParaRPr lang="en-US" sz="8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46312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 &amp; INSIGHTS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963900" y="304800"/>
            <a:ext cx="15621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四信号关联 + 主动提示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83195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· 图谱与洞察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8319516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不只可视化， 还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主动提示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下一步。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830711"/>
            <a:ext cx="80772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3068836"/>
            <a:ext cx="83195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四信号关联模型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76300" y="3297436"/>
            <a:ext cx="8115300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185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直接链接（wikilink）</a:t>
            </a:r>
            <a:endParaRPr lang="en-US" sz="1500" dirty="0"/>
          </a:p>
          <a:p>
            <a:pPr algn="l" marL="133350" indent="-133350">
              <a:lnSpc>
                <a:spcPct val="185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来源重叠（共享 raw source）</a:t>
            </a:r>
            <a:endParaRPr lang="en-US" sz="1500" dirty="0"/>
          </a:p>
          <a:p>
            <a:pPr algn="l" marL="133350" indent="-133350">
              <a:lnSpc>
                <a:spcPct val="185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共同邻居（Adamic-Adar）</a:t>
            </a:r>
            <a:endParaRPr lang="en-US" sz="1500" dirty="0"/>
          </a:p>
          <a:p>
            <a:pPr algn="l" marL="133350" indent="-133350">
              <a:lnSpc>
                <a:spcPct val="185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类型亲和（实体 vs 概念）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" y="4935736"/>
            <a:ext cx="83195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图谱洞察（一键 Deep Research）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76300" y="5164336"/>
            <a:ext cx="8115300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185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惊奇连接（surprising links）</a:t>
            </a:r>
            <a:endParaRPr lang="en-US" sz="1500" dirty="0"/>
          </a:p>
          <a:p>
            <a:pPr algn="l" marL="133350" indent="-133350">
              <a:lnSpc>
                <a:spcPct val="185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孤立页面（orphans）</a:t>
            </a:r>
            <a:endParaRPr lang="en-US" sz="1500" dirty="0"/>
          </a:p>
          <a:p>
            <a:pPr algn="l" marL="133350" indent="-133350">
              <a:lnSpc>
                <a:spcPct val="185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稀疏社区（sparse clusters）</a:t>
            </a:r>
            <a:endParaRPr lang="en-US" sz="1500" dirty="0"/>
          </a:p>
          <a:p>
            <a:pPr algn="l" marL="133350" indent="-133350">
              <a:lnSpc>
                <a:spcPct val="185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桥接节点（bridges）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372600" y="1333500"/>
            <a:ext cx="8077200" cy="803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53575" y="1514475"/>
            <a:ext cx="79467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 · WIKI GRAPH (LOUVAIN COLOR)</a:t>
            </a:r>
            <a:endParaRPr lang="en-US" sz="10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3575" y="1685925"/>
            <a:ext cx="7715250" cy="73342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322117" y="9020175"/>
            <a:ext cx="79467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4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 size ∝ linkCount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38200" y="9867900"/>
            <a:ext cx="122292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P02 · GRAPH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/ 46</a:t>
            </a:r>
            <a:endParaRPr lang="en-US" sz="8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9429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EMBEDDINGS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542865" y="304800"/>
            <a:ext cx="19831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务实地把向量当辅助，不当主角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· 向量与 EMBEDDING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8241030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Wiki 是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主资产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 向量库是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辅助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830711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3068836"/>
            <a:ext cx="8241030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务实之处：embedding 是</a:t>
            </a:r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可选能力 </a:t>
            </a:r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，不是系统前提。 小规模时直接检索 Markdown 已足够； 规模上来再叠加向量召回。 这正符合 LLM-Wiki "先轻量、再加层"的哲学。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448800" y="1333500"/>
            <a:ext cx="8001000" cy="1891308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44075" y="1609725"/>
            <a:ext cx="76327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EMBEDDING 流程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710738" y="1847850"/>
            <a:ext cx="7659815" cy="313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42888" indent="-242888">
              <a:lnSpc>
                <a:spcPct val="170000"/>
              </a:lnSpc>
              <a:buSzPct val="100000"/>
              <a:buFont typeface="+mj-lt"/>
              <a:buAutoNum type="arabicPeriod" startAt="1"/>
              <a:tabLst>
                <a:tab pos="242888" algn="l"/>
              </a:tabLst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 Markdown 页面做 chunk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9710738" y="2123033"/>
            <a:ext cx="7659815" cy="313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42888" indent="-242888">
              <a:lnSpc>
                <a:spcPct val="170000"/>
              </a:lnSpc>
              <a:buSzPct val="100000"/>
              <a:buFont typeface="+mj-lt"/>
              <a:buAutoNum type="arabicPeriod" startAt="2"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拼接 </a:t>
            </a:r>
            <a:pPr algn="l"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title + heading + chunk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9710738" y="2398216"/>
            <a:ext cx="7659815" cy="313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42888" indent="-242888">
              <a:lnSpc>
                <a:spcPct val="170000"/>
              </a:lnSpc>
              <a:buSzPct val="100000"/>
              <a:buFont typeface="+mj-lt"/>
              <a:buAutoNum type="arabicPeriod" startAt="3"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调用 OpenAI 兼容 </a:t>
            </a:r>
            <a:pPr algn="l"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/v1/embeddings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9710738" y="2673400"/>
            <a:ext cx="7659815" cy="313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42888" indent="-242888">
              <a:lnSpc>
                <a:spcPct val="170000"/>
              </a:lnSpc>
              <a:buSzPct val="100000"/>
              <a:buFont typeface="+mj-lt"/>
              <a:buAutoNum type="arabicPeriod" startAt="4"/>
              <a:tabLst>
                <a:tab pos="242888" algn="l"/>
              </a:tabLst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写入本地 LanceDB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9448800" y="3377208"/>
            <a:ext cx="8001000" cy="1891308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44075" y="3653433"/>
            <a:ext cx="76327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健壮性细节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840278" y="3891558"/>
            <a:ext cx="7390448" cy="1138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13347" indent="-113347">
              <a:lnSpc>
                <a:spcPct val="17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oversize 自动二分重试</a:t>
            </a:r>
            <a:endParaRPr lang="en-US" sz="1275" dirty="0"/>
          </a:p>
          <a:p>
            <a:pPr algn="l" marL="113347" indent="-113347">
              <a:lnSpc>
                <a:spcPct val="17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最近一次错误可见</a:t>
            </a:r>
            <a:endParaRPr lang="en-US" sz="1275" dirty="0"/>
          </a:p>
          <a:p>
            <a:pPr algn="l" marL="113347" indent="-113347">
              <a:lnSpc>
                <a:spcPct val="17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页面删除联动删除 embedding</a:t>
            </a:r>
            <a:endParaRPr lang="en-US" sz="1275" dirty="0"/>
          </a:p>
          <a:p>
            <a:pPr algn="l" marL="113347" indent="-113347">
              <a:lnSpc>
                <a:spcPct val="170000"/>
              </a:lnSpc>
              <a:buSzPct val="100000"/>
              <a:buChar char="•"/>
              <a:tabLst>
                <a:tab pos="113347" algn="l"/>
              </a:tabLst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chunk 级粒度，搜索后再聚合到页面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838200" y="9867900"/>
            <a:ext cx="13863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P02 · VECTORS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 / 46</a:t>
            </a:r>
            <a:endParaRPr lang="en-US" sz="8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9429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GOVERNANCE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790515" y="304800"/>
            <a:ext cx="17354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LINT · REVIEW · 闭环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· 治理体系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长期跑得动，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治理比生成更重要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463105"/>
            <a:ext cx="5334000" cy="2264569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475" y="2739330"/>
            <a:ext cx="48857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LINT · STRUCTURAL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475" y="2967930"/>
            <a:ext cx="4885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结构性检查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98245" y="3415605"/>
            <a:ext cx="4754880" cy="814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orphan page · 孤立页</a:t>
            </a:r>
            <a:endParaRPr lang="en-US" sz="1200" dirty="0"/>
          </a:p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broken link · 死链</a:t>
            </a:r>
            <a:endParaRPr lang="en-US" sz="1200" dirty="0"/>
          </a:p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no outlinks · 无出链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77000" y="2463105"/>
            <a:ext cx="5334000" cy="2264569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72275" y="2739330"/>
            <a:ext cx="48857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LINT · SEMANTIC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72275" y="2967930"/>
            <a:ext cx="4885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语义级体检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37045" y="3415605"/>
            <a:ext cx="475488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contradiction · 矛盾</a:t>
            </a:r>
            <a:endParaRPr lang="en-US" sz="1200" dirty="0"/>
          </a:p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stale · 已过时</a:t>
            </a:r>
            <a:endParaRPr lang="en-US" sz="1200" dirty="0"/>
          </a:p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missing-page · 缺页</a:t>
            </a:r>
            <a:endParaRPr lang="en-US" sz="1200" dirty="0"/>
          </a:p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suggestion · 建议补建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115800" y="2463105"/>
            <a:ext cx="5334000" cy="2264569"/>
          </a:xfrm>
          <a:prstGeom prst="rect">
            <a:avLst/>
          </a:prstGeom>
          <a:solidFill>
            <a:srgbClr val="FFFFFF"/>
          </a:solidFill>
          <a:ln w="9525">
            <a:solidFill>
              <a:srgbClr val="B66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11075" y="2739330"/>
            <a:ext cx="48857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REVIEW QUEUE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411075" y="2967930"/>
            <a:ext cx="4885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人审闭环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475845" y="3415605"/>
            <a:ext cx="4754880" cy="814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ingest 中发现的问题挂起</a:t>
            </a:r>
            <a:endParaRPr lang="en-US" sz="1200" dirty="0"/>
          </a:p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用户通过 / 修改 / 拒绝</a:t>
            </a:r>
            <a:endParaRPr lang="en-US" sz="1200" dirty="0"/>
          </a:p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可触发 Deep Research 辅助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8200" y="5070574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" y="5308699"/>
            <a:ext cx="831951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 LLM 用在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"知识库体检"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上， 而不只是用在"生成内容"上。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372600" y="5308699"/>
            <a:ext cx="831951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人类策展，LLM 维护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 在产品层面真正落地的位置。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38200" y="9867900"/>
            <a:ext cx="13046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P02 · GOVERN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 / 46</a:t>
            </a:r>
            <a:endParaRPr lang="en-US" sz="8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2031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DEEP RESEARCH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815221" y="304800"/>
            <a:ext cx="17107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把外部信息发现也纳入闭环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· 深度研究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8241030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让外部世界 也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长进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知识库。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830711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3068836"/>
            <a:ext cx="831094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85750" indent="-285750">
              <a:lnSpc>
                <a:spcPct val="190000"/>
              </a:lnSpc>
              <a:buSzPct val="100000"/>
              <a:buFont typeface="+mj-lt"/>
              <a:buAutoNum type="arabicPeriod" startAt="1"/>
              <a:tabLst>
                <a:tab pos="2857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用户输入研究主题，或从 graph insight / review 触发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3430786"/>
            <a:ext cx="831094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85750" indent="-285750">
              <a:lnSpc>
                <a:spcPct val="190000"/>
              </a:lnSpc>
              <a:buSzPct val="100000"/>
              <a:buFont typeface="+mj-lt"/>
              <a:buAutoNum type="arabicPeriod" startAt="2"/>
              <a:tabLst>
                <a:tab pos="2857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调用 web-search（Tavily / SerpApi）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3792736"/>
            <a:ext cx="831094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85750" indent="-285750">
              <a:lnSpc>
                <a:spcPct val="190000"/>
              </a:lnSpc>
              <a:buSzPct val="100000"/>
              <a:buFont typeface="+mj-lt"/>
              <a:buAutoNum type="arabicPeriod" startAt="3"/>
              <a:tabLst>
                <a:tab pos="2857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合并、去重搜索结果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4154686"/>
            <a:ext cx="831094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85750" indent="-285750">
              <a:lnSpc>
                <a:spcPct val="190000"/>
              </a:lnSpc>
              <a:buSzPct val="100000"/>
              <a:buFont typeface="+mj-lt"/>
              <a:buAutoNum type="arabicPeriod" startAt="4"/>
              <a:tabLst>
                <a:tab pos="2857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LLM 综合，生成研究页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4516636"/>
            <a:ext cx="831094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85750" indent="-285750">
              <a:lnSpc>
                <a:spcPct val="190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研究页保存到 </a:t>
            </a:r>
            <a:pPr algn="l" indent="0" marL="0">
              <a:lnSpc>
                <a:spcPct val="190000"/>
              </a:lnSpc>
              <a:buNone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wiki/queries/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2000" y="4878586"/>
            <a:ext cx="831094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85750" indent="-285750">
              <a:lnSpc>
                <a:spcPct val="190000"/>
              </a:lnSpc>
              <a:buSzPct val="100000"/>
              <a:buFont typeface="+mj-lt"/>
              <a:buAutoNum type="arabicPeriod" startAt="6"/>
              <a:tabLst>
                <a:tab pos="285750" algn="l"/>
              </a:tabLst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对该研究页再次 ingest，回写到 Wiki 网络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3300" y="3067050"/>
            <a:ext cx="4572000" cy="4572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8200" y="9867900"/>
            <a:ext cx="14680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P02 · RESEARCH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 / 46</a:t>
            </a:r>
            <a:endParaRPr lang="en-US" sz="8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0297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WEB CLIPPER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087725" y="304800"/>
            <a:ext cx="1438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把网页也变成一等输入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· 浏览器剪藏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8241030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网页也是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一等输入源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830711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3068836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浏览器扩展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38200" y="3278386"/>
            <a:ext cx="824103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读取当前标签页 → 注入 Readability + Turndown → 提取正文转 Markdown → 发送到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127.0.0.1:19827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" y="4097536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本地 clip server（Rust）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38200" y="4307086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接收剪藏；管理项目列表与 pending clips；前端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clip-watcher </a:t>
            </a:r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轮询并入队 ingest。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448800" y="1333500"/>
            <a:ext cx="8001000" cy="803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86925" y="1571625"/>
            <a:ext cx="775049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 · CLIPPER FLOW</a:t>
            </a:r>
            <a:endParaRPr lang="en-US" sz="10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925" y="1743075"/>
            <a:ext cx="7524750" cy="558968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8200" y="9867900"/>
            <a:ext cx="13863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P02 · CLIPPER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 / 46</a:t>
            </a:r>
            <a:endParaRPr lang="en-US" sz="8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MAPPING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592127" y="304800"/>
            <a:ext cx="19338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原始概念 ↔ LLM_WIKI 实现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 · 概念到实现的映射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最能体现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"从方法论到产品"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的一张表。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814489"/>
            <a:ext cx="3654475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539305"/>
            <a:ext cx="3459309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原始概念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4492675" y="2814489"/>
            <a:ext cx="12957125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9" name="Text 7"/>
          <p:cNvSpPr/>
          <p:nvPr/>
        </p:nvSpPr>
        <p:spPr>
          <a:xfrm>
            <a:off x="4645075" y="2539305"/>
            <a:ext cx="13041039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LLM_WIKI 中的具体实现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838200" y="3334494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2957364"/>
            <a:ext cx="345930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Raw Sources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92675" y="3334494"/>
            <a:ext cx="129571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075" y="2957364"/>
            <a:ext cx="1304103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raw/sources/ </a:t>
            </a:r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 Rust 后端读取与预处理（PDF / DOCX / PPTX / XLSX）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8200" y="3854500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3477369"/>
            <a:ext cx="345930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Wiki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492675" y="3854500"/>
            <a:ext cx="129571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7" name="Text 15"/>
          <p:cNvSpPr/>
          <p:nvPr/>
        </p:nvSpPr>
        <p:spPr>
          <a:xfrm>
            <a:off x="4645075" y="3477369"/>
            <a:ext cx="1304103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wiki/ </a:t>
            </a:r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下的 Markdown 页面体系（entities / concepts / sources / synthesis ...）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38200" y="4374505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3997375"/>
            <a:ext cx="345930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Schema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92675" y="4374505"/>
            <a:ext cx="129571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1" name="Text 19"/>
          <p:cNvSpPr/>
          <p:nvPr/>
        </p:nvSpPr>
        <p:spPr>
          <a:xfrm>
            <a:off x="4645075" y="3997375"/>
            <a:ext cx="1304103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schema.md </a:t>
            </a:r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 模板系统（research / reading / business / ...）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38200" y="4894511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4517380"/>
            <a:ext cx="345930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Ingest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92675" y="4894511"/>
            <a:ext cx="129571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5" name="Text 23"/>
          <p:cNvSpPr/>
          <p:nvPr/>
        </p:nvSpPr>
        <p:spPr>
          <a:xfrm>
            <a:off x="4645075" y="4517380"/>
            <a:ext cx="1304103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ingest.ts </a:t>
            </a:r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ingest-queue.ts </a:t>
            </a:r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 review + image pipeline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38200" y="5414516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7" name="Text 25"/>
          <p:cNvSpPr/>
          <p:nvPr/>
        </p:nvSpPr>
        <p:spPr>
          <a:xfrm>
            <a:off x="990600" y="5037386"/>
            <a:ext cx="345930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Query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492675" y="5414516"/>
            <a:ext cx="129571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9" name="Text 27"/>
          <p:cNvSpPr/>
          <p:nvPr/>
        </p:nvSpPr>
        <p:spPr>
          <a:xfrm>
            <a:off x="4645075" y="5037386"/>
            <a:ext cx="1304103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chat-panel.tsx </a:t>
            </a:r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search.ts </a:t>
            </a:r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 graph expansion + context budget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38200" y="5930652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1" name="Text 29"/>
          <p:cNvSpPr/>
          <p:nvPr/>
        </p:nvSpPr>
        <p:spPr>
          <a:xfrm>
            <a:off x="990600" y="5557391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Lint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492675" y="5930652"/>
            <a:ext cx="129571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3" name="Text 31"/>
          <p:cNvSpPr/>
          <p:nvPr/>
        </p:nvSpPr>
        <p:spPr>
          <a:xfrm>
            <a:off x="4645075" y="5557391"/>
            <a:ext cx="1304103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结构性检查 + 语义性检查（双层 lint）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38200" y="6446788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5" name="Text 33"/>
          <p:cNvSpPr/>
          <p:nvPr/>
        </p:nvSpPr>
        <p:spPr>
          <a:xfrm>
            <a:off x="990600" y="6073527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index.md / log.md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4492675" y="6446788"/>
            <a:ext cx="129571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7" name="Text 35"/>
          <p:cNvSpPr/>
          <p:nvPr/>
        </p:nvSpPr>
        <p:spPr>
          <a:xfrm>
            <a:off x="4645075" y="6073527"/>
            <a:ext cx="1304103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检索入口与时序日志，被 ingest / query 持续读写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38200" y="6962924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9" name="Text 37"/>
          <p:cNvSpPr/>
          <p:nvPr/>
        </p:nvSpPr>
        <p:spPr>
          <a:xfrm>
            <a:off x="990600" y="6589663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人类策展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4492675" y="6962924"/>
            <a:ext cx="129571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1" name="Text 39"/>
          <p:cNvSpPr/>
          <p:nvPr/>
        </p:nvSpPr>
        <p:spPr>
          <a:xfrm>
            <a:off x="4645075" y="6589663"/>
            <a:ext cx="1304103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队列、deep research 确认、模板与项目选择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38200" y="7479060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3" name="Text 41"/>
          <p:cNvSpPr/>
          <p:nvPr/>
        </p:nvSpPr>
        <p:spPr>
          <a:xfrm>
            <a:off x="990600" y="7105799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LLM 维护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4492675" y="7479060"/>
            <a:ext cx="129571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5" name="Text 43"/>
          <p:cNvSpPr/>
          <p:nvPr/>
        </p:nvSpPr>
        <p:spPr>
          <a:xfrm>
            <a:off x="4645075" y="7105799"/>
            <a:ext cx="1304103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分析 → 生成 → merge → 总结 → 语义 lint → 研究综合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838200" y="7995196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7" name="Text 45"/>
          <p:cNvSpPr/>
          <p:nvPr/>
        </p:nvSpPr>
        <p:spPr>
          <a:xfrm>
            <a:off x="990600" y="7621935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持续演化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4492675" y="7995196"/>
            <a:ext cx="1295712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9" name="Text 47"/>
          <p:cNvSpPr/>
          <p:nvPr/>
        </p:nvSpPr>
        <p:spPr>
          <a:xfrm>
            <a:off x="4645075" y="7621935"/>
            <a:ext cx="1304103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ingest → wiki 更新 → query → save / research → 再 ingest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838200" y="9867900"/>
            <a:ext cx="13863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P02 · MAPPING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/ 46</a:t>
            </a:r>
            <a:endParaRPr lang="en-US" sz="8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4800"/>
            <a:ext cx="12031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8E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03 OF 05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4329321" y="304800"/>
            <a:ext cx="321409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8E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STKB · SALES TRAINING KNOWLEDGE BASE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4191000"/>
            <a:ext cx="1716024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spc="-300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838200" y="6400800"/>
            <a:ext cx="17109948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spc="189" kern="0" dirty="0">
                <a:solidFill>
                  <a:srgbClr val="E08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03 / STKB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200" y="6792218"/>
            <a:ext cx="12753975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F5F3E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STKB：销售培训知识库 —— 同一条 pipeline 的垂直化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838200" y="8445698"/>
            <a:ext cx="107918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把企业销售经验转化为可操作的"知识资产"，是 AI 销售训练系统的知识核心。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38200" y="9867900"/>
            <a:ext cx="6508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7C7C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STKB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7C7C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 / 46</a:t>
            </a:r>
            <a:endParaRPr lang="en-US" sz="8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1163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IS STKB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112430" y="304800"/>
            <a:ext cx="14135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定位 · 核心 · 形态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 · STKB 是什么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8241030" cy="1889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把销售经验 变成 </a:t>
            </a:r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可操作的 知识资产</a:t>
            </a:r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838200" y="3794671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4108996"/>
            <a:ext cx="824103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STKB（Sales Training Knowledge Base）是 AI 销售训练系统的知识核心 —— 它要把 分散的产品、客户、话术、合规、培训资料， 编译成 AI 教练 / AI 助理 / AI 诊断 / 数字人都能直接调用的结构化知识。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448800" y="3626346"/>
            <a:ext cx="8001000" cy="2300883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44075" y="3902571"/>
            <a:ext cx="76327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 PIPELINE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744075" y="4131171"/>
            <a:ext cx="7632763" cy="155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050" spc="42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文档输入 → Stage 0（预处理 + 快速扫描） → Stage 1（领域并行抽取） → Stage 2（链接 + 打标） → 人工审核 → 存储 ───→ A1 应用层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448800" y="6098679"/>
            <a:ext cx="2578001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2" name="Text 10"/>
          <p:cNvSpPr/>
          <p:nvPr/>
        </p:nvSpPr>
        <p:spPr>
          <a:xfrm>
            <a:off x="9448800" y="6241554"/>
            <a:ext cx="265534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9448800" y="6927354"/>
            <a:ext cx="26553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知识域 K1—K13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12160151" y="6098679"/>
            <a:ext cx="257815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5" name="Text 13"/>
          <p:cNvSpPr/>
          <p:nvPr/>
        </p:nvSpPr>
        <p:spPr>
          <a:xfrm>
            <a:off x="12160151" y="6241554"/>
            <a:ext cx="265549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2160151" y="6927354"/>
            <a:ext cx="26554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所有权层级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14871650" y="6098679"/>
            <a:ext cx="2578001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8" name="Text 16"/>
          <p:cNvSpPr/>
          <p:nvPr/>
        </p:nvSpPr>
        <p:spPr>
          <a:xfrm>
            <a:off x="14871650" y="6241554"/>
            <a:ext cx="265534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4871650" y="6927354"/>
            <a:ext cx="26553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应用形态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838200" y="9867900"/>
            <a:ext cx="11412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P03 · STKB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 / 46</a:t>
            </a:r>
            <a:endParaRPr lang="en-US" sz="8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4800"/>
            <a:ext cx="18097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KNOWLEDGE DOMAINS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929646" y="304800"/>
            <a:ext cx="596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K1—K13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 · 13 个知识域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围绕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销售场景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联动的领域模型。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405955"/>
            <a:ext cx="40528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2644080"/>
            <a:ext cx="41744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8200" y="2872680"/>
            <a:ext cx="41744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Product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" y="3263205"/>
            <a:ext cx="4174474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产品知识：参数、卖点、对比、合规话术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5024438" y="2405955"/>
            <a:ext cx="40528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1" name="Text 9"/>
          <p:cNvSpPr/>
          <p:nvPr/>
        </p:nvSpPr>
        <p:spPr>
          <a:xfrm>
            <a:off x="5024438" y="2644080"/>
            <a:ext cx="41744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4438" y="2872680"/>
            <a:ext cx="41744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Customer Persona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4438" y="3263205"/>
            <a:ext cx="4174474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客户画像：12 类典型画像（保险示例）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9210675" y="2405955"/>
            <a:ext cx="40528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675" y="2644080"/>
            <a:ext cx="41744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210675" y="2872680"/>
            <a:ext cx="41744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Customer Needs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10675" y="3263205"/>
            <a:ext cx="4174474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客户需求与动因层次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13396913" y="2405955"/>
            <a:ext cx="4052888" cy="1344811"/>
          </a:xfrm>
          <a:prstGeom prst="rect">
            <a:avLst/>
          </a:prstGeom>
          <a:solidFill>
            <a:srgbClr val="FFF8F3"/>
          </a:solidFill>
          <a:ln/>
        </p:spPr>
      </p:sp>
      <p:sp>
        <p:nvSpPr>
          <p:cNvPr id="19" name="Shape 17"/>
          <p:cNvSpPr/>
          <p:nvPr/>
        </p:nvSpPr>
        <p:spPr>
          <a:xfrm>
            <a:off x="13396913" y="2405955"/>
            <a:ext cx="4052888" cy="9525"/>
          </a:xfrm>
          <a:prstGeom prst="rect">
            <a:avLst/>
          </a:prstGeom>
          <a:solidFill>
            <a:srgbClr val="B6633A"/>
          </a:solidFill>
          <a:ln/>
        </p:spPr>
      </p:sp>
      <p:sp>
        <p:nvSpPr>
          <p:cNvPr id="20" name="Text 18"/>
          <p:cNvSpPr/>
          <p:nvPr/>
        </p:nvSpPr>
        <p:spPr>
          <a:xfrm>
            <a:off x="13396913" y="2644080"/>
            <a:ext cx="41744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396913" y="2872680"/>
            <a:ext cx="41744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Sales Scene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396913" y="3263205"/>
            <a:ext cx="4174474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销售场景：知识联动的中枢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838200" y="3884116"/>
            <a:ext cx="40528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" y="4122241"/>
            <a:ext cx="41744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8200" y="4350841"/>
            <a:ext cx="41744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Sales Stage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8200" y="4741366"/>
            <a:ext cx="4174474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销售阶段：节奏与节点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5024438" y="3884116"/>
            <a:ext cx="40528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8" name="Text 26"/>
          <p:cNvSpPr/>
          <p:nvPr/>
        </p:nvSpPr>
        <p:spPr>
          <a:xfrm>
            <a:off x="5024438" y="4122241"/>
            <a:ext cx="41744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4438" y="4350841"/>
            <a:ext cx="41744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Competency Model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4438" y="4741366"/>
            <a:ext cx="4174474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能力模型：销售能力维度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9210675" y="3884116"/>
            <a:ext cx="40528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2" name="Text 30"/>
          <p:cNvSpPr/>
          <p:nvPr/>
        </p:nvSpPr>
        <p:spPr>
          <a:xfrm>
            <a:off x="9210675" y="4122241"/>
            <a:ext cx="41744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10675" y="4350841"/>
            <a:ext cx="41744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Sales Strategy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210675" y="4741366"/>
            <a:ext cx="4174474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销售策略：方法与套路</a:t>
            </a:r>
            <a:endParaRPr lang="en-US" sz="1275" dirty="0"/>
          </a:p>
        </p:txBody>
      </p:sp>
      <p:sp>
        <p:nvSpPr>
          <p:cNvPr id="35" name="Shape 33"/>
          <p:cNvSpPr/>
          <p:nvPr/>
        </p:nvSpPr>
        <p:spPr>
          <a:xfrm>
            <a:off x="13396913" y="3884116"/>
            <a:ext cx="40528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6" name="Text 34"/>
          <p:cNvSpPr/>
          <p:nvPr/>
        </p:nvSpPr>
        <p:spPr>
          <a:xfrm>
            <a:off x="13396913" y="4122241"/>
            <a:ext cx="41744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396913" y="4350841"/>
            <a:ext cx="41744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Talk Structure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396913" y="4741366"/>
            <a:ext cx="4174474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话术结构：开场 / 推进 / 收口</a:t>
            </a:r>
            <a:endParaRPr lang="en-US" sz="1275" dirty="0"/>
          </a:p>
        </p:txBody>
      </p:sp>
      <p:sp>
        <p:nvSpPr>
          <p:cNvPr id="39" name="Shape 37"/>
          <p:cNvSpPr/>
          <p:nvPr/>
        </p:nvSpPr>
        <p:spPr>
          <a:xfrm>
            <a:off x="838200" y="5362277"/>
            <a:ext cx="40528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0" name="Text 38"/>
          <p:cNvSpPr/>
          <p:nvPr/>
        </p:nvSpPr>
        <p:spPr>
          <a:xfrm>
            <a:off x="838200" y="5600402"/>
            <a:ext cx="41744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38200" y="5829002"/>
            <a:ext cx="41744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Objection Handling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8200" y="6219527"/>
            <a:ext cx="4174474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异议处理：常见反驳与回应</a:t>
            </a:r>
            <a:endParaRPr lang="en-US" sz="1275" dirty="0"/>
          </a:p>
        </p:txBody>
      </p:sp>
      <p:sp>
        <p:nvSpPr>
          <p:cNvPr id="43" name="Shape 41"/>
          <p:cNvSpPr/>
          <p:nvPr/>
        </p:nvSpPr>
        <p:spPr>
          <a:xfrm>
            <a:off x="5024438" y="5362277"/>
            <a:ext cx="40528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4" name="Text 42"/>
          <p:cNvSpPr/>
          <p:nvPr/>
        </p:nvSpPr>
        <p:spPr>
          <a:xfrm>
            <a:off x="5024438" y="5600402"/>
            <a:ext cx="41744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4438" y="5829002"/>
            <a:ext cx="41744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Reaction Patterns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024438" y="6219527"/>
            <a:ext cx="4174474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客户反应模式</a:t>
            </a:r>
            <a:endParaRPr lang="en-US" sz="1275" dirty="0"/>
          </a:p>
        </p:txBody>
      </p:sp>
      <p:sp>
        <p:nvSpPr>
          <p:cNvPr id="47" name="Shape 45"/>
          <p:cNvSpPr/>
          <p:nvPr/>
        </p:nvSpPr>
        <p:spPr>
          <a:xfrm>
            <a:off x="9210675" y="5362277"/>
            <a:ext cx="40528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8" name="Text 46"/>
          <p:cNvSpPr/>
          <p:nvPr/>
        </p:nvSpPr>
        <p:spPr>
          <a:xfrm>
            <a:off x="9210675" y="5600402"/>
            <a:ext cx="41744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210675" y="5829002"/>
            <a:ext cx="41744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Service Rights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210675" y="6219527"/>
            <a:ext cx="4174474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服务权益与售后</a:t>
            </a:r>
            <a:endParaRPr lang="en-US" sz="1275" dirty="0"/>
          </a:p>
        </p:txBody>
      </p:sp>
      <p:sp>
        <p:nvSpPr>
          <p:cNvPr id="51" name="Shape 49"/>
          <p:cNvSpPr/>
          <p:nvPr/>
        </p:nvSpPr>
        <p:spPr>
          <a:xfrm>
            <a:off x="13396913" y="5362277"/>
            <a:ext cx="40528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2" name="Text 50"/>
          <p:cNvSpPr/>
          <p:nvPr/>
        </p:nvSpPr>
        <p:spPr>
          <a:xfrm>
            <a:off x="13396913" y="5600402"/>
            <a:ext cx="41744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K12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3396913" y="5829002"/>
            <a:ext cx="41744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3396913" y="6219527"/>
            <a:ext cx="4174474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合规规则与红线</a:t>
            </a:r>
            <a:endParaRPr lang="en-US" sz="1275" dirty="0"/>
          </a:p>
        </p:txBody>
      </p:sp>
      <p:sp>
        <p:nvSpPr>
          <p:cNvPr id="55" name="Shape 53"/>
          <p:cNvSpPr/>
          <p:nvPr/>
        </p:nvSpPr>
        <p:spPr>
          <a:xfrm>
            <a:off x="838200" y="6840438"/>
            <a:ext cx="40528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6" name="Text 54"/>
          <p:cNvSpPr/>
          <p:nvPr/>
        </p:nvSpPr>
        <p:spPr>
          <a:xfrm>
            <a:off x="838200" y="7078563"/>
            <a:ext cx="41744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K13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38200" y="7307163"/>
            <a:ext cx="41744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Training Eval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838200" y="7697688"/>
            <a:ext cx="4174474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培训评估：诊断与反馈</a:t>
            </a:r>
            <a:endParaRPr lang="en-US" sz="1275" dirty="0"/>
          </a:p>
        </p:txBody>
      </p:sp>
      <p:sp>
        <p:nvSpPr>
          <p:cNvPr id="59" name="Shape 57"/>
          <p:cNvSpPr/>
          <p:nvPr/>
        </p:nvSpPr>
        <p:spPr>
          <a:xfrm>
            <a:off x="5024438" y="6840438"/>
            <a:ext cx="4052888" cy="1344811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60" name="Shape 58"/>
          <p:cNvSpPr/>
          <p:nvPr/>
        </p:nvSpPr>
        <p:spPr>
          <a:xfrm>
            <a:off x="5024438" y="6840438"/>
            <a:ext cx="4052888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61" name="Text 59"/>
          <p:cNvSpPr/>
          <p:nvPr/>
        </p:nvSpPr>
        <p:spPr>
          <a:xfrm>
            <a:off x="5024438" y="7078563"/>
            <a:ext cx="41744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E08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024438" y="7307163"/>
            <a:ext cx="41744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5024438" y="7697688"/>
            <a:ext cx="4174474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治理层：版本、权限、审核、合规</a:t>
            </a:r>
            <a:endParaRPr lang="en-US" sz="1275" dirty="0"/>
          </a:p>
        </p:txBody>
      </p:sp>
      <p:sp>
        <p:nvSpPr>
          <p:cNvPr id="64" name="Shape 62"/>
          <p:cNvSpPr/>
          <p:nvPr/>
        </p:nvSpPr>
        <p:spPr>
          <a:xfrm>
            <a:off x="9210675" y="6840438"/>
            <a:ext cx="4052888" cy="1344811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65" name="Shape 63"/>
          <p:cNvSpPr/>
          <p:nvPr/>
        </p:nvSpPr>
        <p:spPr>
          <a:xfrm>
            <a:off x="9210675" y="6840438"/>
            <a:ext cx="4052888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66" name="Text 64"/>
          <p:cNvSpPr/>
          <p:nvPr/>
        </p:nvSpPr>
        <p:spPr>
          <a:xfrm>
            <a:off x="9210675" y="7078563"/>
            <a:ext cx="41744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E08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210675" y="7307163"/>
            <a:ext cx="41744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Application Map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9210675" y="7697688"/>
            <a:ext cx="4174474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应用映射：AI 教练 / 助理 / 诊断 / 数字人</a:t>
            </a:r>
            <a:endParaRPr lang="en-US" sz="1275" dirty="0"/>
          </a:p>
        </p:txBody>
      </p:sp>
      <p:sp>
        <p:nvSpPr>
          <p:cNvPr id="69" name="Text 67"/>
          <p:cNvSpPr/>
          <p:nvPr/>
        </p:nvSpPr>
        <p:spPr>
          <a:xfrm>
            <a:off x="838200" y="9867900"/>
            <a:ext cx="13863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P03 · DOMAINS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 / 46</a:t>
            </a:r>
            <a:endParaRPr lang="en-US" sz="8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9831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OWNERSHIP &amp; EXTRACTION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827573" y="304800"/>
            <a:ext cx="16984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三层所有权 / 四阶段抽取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79034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 · 三层所有权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7903479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从通用方法论 到企业定制。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830711"/>
            <a:ext cx="767328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Shape 5"/>
          <p:cNvSpPr/>
          <p:nvPr/>
        </p:nvSpPr>
        <p:spPr>
          <a:xfrm>
            <a:off x="838200" y="3068836"/>
            <a:ext cx="7673280" cy="1406723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175" y="3249811"/>
            <a:ext cx="75306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 LAYER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019175" y="3449836"/>
            <a:ext cx="753067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核心层 · 跨行业通用方法论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19175" y="3873698"/>
            <a:ext cx="753067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所有行业、所有企业共享的销售方法论与基础结构。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838200" y="4589859"/>
            <a:ext cx="7673280" cy="1406723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9175" y="4770834"/>
            <a:ext cx="75306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INDUSTRY PACK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19175" y="4970859"/>
            <a:ext cx="753067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行业包 · 行业特定知识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19175" y="5394722"/>
            <a:ext cx="753067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如保险、医疗、金融，沉淀该行业的画像、合规、术语。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838200" y="6110883"/>
            <a:ext cx="7673280" cy="1406723"/>
          </a:xfrm>
          <a:prstGeom prst="rect">
            <a:avLst/>
          </a:prstGeom>
          <a:solidFill>
            <a:srgbClr val="FFF8F3"/>
          </a:solidFill>
          <a:ln w="9525">
            <a:solidFill>
              <a:srgbClr val="B663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175" y="6291858"/>
            <a:ext cx="75306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ENTERPRISE OVERLAY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019175" y="6491883"/>
            <a:ext cx="753067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企业覆盖层 · 企业定制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19175" y="6915745"/>
            <a:ext cx="753067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某家企业自己的产品、话术、规则，覆盖在通用层之上。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8968680" y="1333500"/>
            <a:ext cx="87354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· 抽取流程（四阶段）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8968680" y="1638300"/>
            <a:ext cx="873540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Stage 0—2 + 人审。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8968680" y="2348805"/>
            <a:ext cx="8480971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2" name="Text 20"/>
          <p:cNvSpPr/>
          <p:nvPr/>
        </p:nvSpPr>
        <p:spPr>
          <a:xfrm>
            <a:off x="8968680" y="2586930"/>
            <a:ext cx="9334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9997380" y="2567880"/>
            <a:ext cx="1773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预处理 + 快速扫描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997380" y="2897386"/>
            <a:ext cx="7675839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PDF/PPT/DOCX/MP3/MP4 解析；语义分块；领域相关性快速扫描。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8968680" y="3308747"/>
            <a:ext cx="9334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1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9997380" y="3289697"/>
            <a:ext cx="1333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领域并行抽取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997380" y="3619202"/>
            <a:ext cx="7675839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K1—K13 各自的 Schema + Few-shot examples，独立抽取器并行。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8968680" y="4030563"/>
            <a:ext cx="9334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2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9997380" y="4011513"/>
            <a:ext cx="15638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跨域链接 + 打标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997380" y="4341019"/>
            <a:ext cx="7675839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置信度打分；通用性标记（核心 / 行业 / 企业）。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8968680" y="4752380"/>
            <a:ext cx="9334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REVIEW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9997380" y="4733330"/>
            <a:ext cx="914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人工审核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997380" y="5062835"/>
            <a:ext cx="7675839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通过 / 修改 / 拒绝 / 标为企业特定 / 标为行业通用。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838200" y="9867900"/>
            <a:ext cx="18767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P03 · OWNER+EXTRACT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 / 46</a:t>
            </a:r>
            <a:endParaRPr lang="en-US" sz="8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8097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SCENE-DRIVEN LINKING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100078" y="304800"/>
            <a:ext cx="142592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K4 作为知识联动中枢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 · 场景驱动的知识联动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STKB 的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原子单位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不是"实体"，而是"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销售场景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"。</a:t>
            </a:r>
            <a:endParaRPr lang="en-US" sz="3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463105"/>
            <a:ext cx="16611600" cy="46903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200" y="7372499"/>
            <a:ext cx="17109948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"场景"把 K1—K13 串成一条工作流：进入场景，触发画像/需求；调用策略/话术/异议；匹配能力/反应。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838200" y="9867900"/>
            <a:ext cx="122292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P03 · SCENE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 / 46</a:t>
            </a:r>
            <a:endParaRPr lang="en-US" sz="8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7231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APPLICATION SURFACE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285815" y="304800"/>
            <a:ext cx="12401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四种 AI 应用形态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 · STKB 的应用矩阵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同一个知识库，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四种产品形态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463105"/>
            <a:ext cx="4010025" cy="239434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475" y="2739330"/>
            <a:ext cx="35220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A1 · TRAINER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475" y="2967930"/>
            <a:ext cx="352205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 教练（陪练）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33475" y="3463230"/>
            <a:ext cx="3522059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基于场景与画像，模拟客户对话，训练新人话术、推进与异议处理。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1133475" y="4152602"/>
            <a:ext cx="3419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1" name="Shape 9"/>
          <p:cNvSpPr/>
          <p:nvPr/>
        </p:nvSpPr>
        <p:spPr>
          <a:xfrm>
            <a:off x="1133475" y="4333577"/>
            <a:ext cx="364629" cy="247650"/>
          </a:xfrm>
          <a:prstGeom prst="roundRect">
            <a:avLst>
              <a:gd name="adj" fmla="val 50000"/>
            </a:avLst>
          </a:prstGeom>
          <a:ln w="9525">
            <a:solidFill>
              <a:srgbClr val="CFC9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" y="4390727"/>
            <a:ext cx="2312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K2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1574304" y="4333577"/>
            <a:ext cx="364629" cy="247650"/>
          </a:xfrm>
          <a:prstGeom prst="roundRect">
            <a:avLst>
              <a:gd name="adj" fmla="val 50000"/>
            </a:avLst>
          </a:prstGeom>
          <a:ln w="9525">
            <a:solidFill>
              <a:srgbClr val="CFC9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79079" y="4390727"/>
            <a:ext cx="2312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K4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2015133" y="4333577"/>
            <a:ext cx="364629" cy="247650"/>
          </a:xfrm>
          <a:prstGeom prst="roundRect">
            <a:avLst>
              <a:gd name="adj" fmla="val 50000"/>
            </a:avLst>
          </a:prstGeom>
          <a:ln w="9525">
            <a:solidFill>
              <a:srgbClr val="CFC9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9908" y="4390727"/>
            <a:ext cx="2312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K8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2455962" y="4333577"/>
            <a:ext cx="364629" cy="247650"/>
          </a:xfrm>
          <a:prstGeom prst="roundRect">
            <a:avLst>
              <a:gd name="adj" fmla="val 50000"/>
            </a:avLst>
          </a:prstGeom>
          <a:ln w="9525">
            <a:solidFill>
              <a:srgbClr val="CFC9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737" y="4390727"/>
            <a:ext cx="2312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K9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5038725" y="2463105"/>
            <a:ext cx="4010025" cy="239434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0" y="2739330"/>
            <a:ext cx="35220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A1 · ASSISTANT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34000" y="2967930"/>
            <a:ext cx="352205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 销售助理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34000" y="3463230"/>
            <a:ext cx="3522059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实时辅助一线：识别当前场景与客户画像，推荐策略 / 话术 / 合规话语。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5334000" y="4152602"/>
            <a:ext cx="3419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4" name="Shape 22"/>
          <p:cNvSpPr/>
          <p:nvPr/>
        </p:nvSpPr>
        <p:spPr>
          <a:xfrm>
            <a:off x="5334000" y="4333577"/>
            <a:ext cx="364629" cy="247650"/>
          </a:xfrm>
          <a:prstGeom prst="roundRect">
            <a:avLst>
              <a:gd name="adj" fmla="val 50000"/>
            </a:avLst>
          </a:prstGeom>
          <a:ln w="9525">
            <a:solidFill>
              <a:srgbClr val="CFC9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8775" y="4390727"/>
            <a:ext cx="2312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K1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5774829" y="4333577"/>
            <a:ext cx="364629" cy="247650"/>
          </a:xfrm>
          <a:prstGeom prst="roundRect">
            <a:avLst>
              <a:gd name="adj" fmla="val 50000"/>
            </a:avLst>
          </a:prstGeom>
          <a:ln w="9525">
            <a:solidFill>
              <a:srgbClr val="CFC9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9604" y="4390727"/>
            <a:ext cx="2312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K7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6215658" y="4333577"/>
            <a:ext cx="364629" cy="247650"/>
          </a:xfrm>
          <a:prstGeom prst="roundRect">
            <a:avLst>
              <a:gd name="adj" fmla="val 50000"/>
            </a:avLst>
          </a:prstGeom>
          <a:ln w="9525">
            <a:solidFill>
              <a:srgbClr val="CFC9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0433" y="4390727"/>
            <a:ext cx="2312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K8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6656487" y="4333577"/>
            <a:ext cx="442168" cy="247650"/>
          </a:xfrm>
          <a:prstGeom prst="roundRect">
            <a:avLst>
              <a:gd name="adj" fmla="val 50000"/>
            </a:avLst>
          </a:prstGeom>
          <a:ln w="9525">
            <a:solidFill>
              <a:srgbClr val="CFC9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1262" y="4390727"/>
            <a:ext cx="30881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K11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7174855" y="4333577"/>
            <a:ext cx="442168" cy="247650"/>
          </a:xfrm>
          <a:prstGeom prst="roundRect">
            <a:avLst>
              <a:gd name="adj" fmla="val 50000"/>
            </a:avLst>
          </a:prstGeom>
          <a:ln w="9525">
            <a:solidFill>
              <a:srgbClr val="CFC9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79630" y="4390727"/>
            <a:ext cx="30881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K12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9239250" y="2463105"/>
            <a:ext cx="4010025" cy="239434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34525" y="2739330"/>
            <a:ext cx="35220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A1 · DIAGNOSE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534525" y="2967930"/>
            <a:ext cx="352205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 诊断分析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534525" y="3463230"/>
            <a:ext cx="3522059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基于通话/对话记录，诊断销售能力短板，给出针对性培训建议。</a:t>
            </a:r>
            <a:endParaRPr lang="en-US" sz="1275" dirty="0"/>
          </a:p>
        </p:txBody>
      </p:sp>
      <p:sp>
        <p:nvSpPr>
          <p:cNvPr id="38" name="Shape 36"/>
          <p:cNvSpPr/>
          <p:nvPr/>
        </p:nvSpPr>
        <p:spPr>
          <a:xfrm>
            <a:off x="9534525" y="4152602"/>
            <a:ext cx="3419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9" name="Shape 37"/>
          <p:cNvSpPr/>
          <p:nvPr/>
        </p:nvSpPr>
        <p:spPr>
          <a:xfrm>
            <a:off x="9534525" y="4333577"/>
            <a:ext cx="364629" cy="247650"/>
          </a:xfrm>
          <a:prstGeom prst="roundRect">
            <a:avLst>
              <a:gd name="adj" fmla="val 50000"/>
            </a:avLst>
          </a:prstGeom>
          <a:ln w="9525">
            <a:solidFill>
              <a:srgbClr val="CFC9B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39300" y="4390727"/>
            <a:ext cx="2312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K6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9975354" y="4333577"/>
            <a:ext cx="442168" cy="247650"/>
          </a:xfrm>
          <a:prstGeom prst="roundRect">
            <a:avLst>
              <a:gd name="adj" fmla="val 50000"/>
            </a:avLst>
          </a:prstGeom>
          <a:ln w="9525">
            <a:solidFill>
              <a:srgbClr val="CFC9B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80129" y="4390727"/>
            <a:ext cx="30881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K10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0493722" y="4333577"/>
            <a:ext cx="442168" cy="247650"/>
          </a:xfrm>
          <a:prstGeom prst="roundRect">
            <a:avLst>
              <a:gd name="adj" fmla="val 50000"/>
            </a:avLst>
          </a:prstGeom>
          <a:ln w="9525">
            <a:solidFill>
              <a:srgbClr val="CFC9B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98497" y="4390727"/>
            <a:ext cx="30881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K13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13439775" y="2463105"/>
            <a:ext cx="4010025" cy="239434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735050" y="2739330"/>
            <a:ext cx="35220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A1 · DIGITAL HUMAN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3735050" y="2967930"/>
            <a:ext cx="352205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数字人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3735050" y="3463230"/>
            <a:ext cx="3522059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面向客户/学员的拟人化前台，承担介绍、问答、模拟、引导。</a:t>
            </a:r>
            <a:endParaRPr lang="en-US" sz="1275" dirty="0"/>
          </a:p>
        </p:txBody>
      </p:sp>
      <p:sp>
        <p:nvSpPr>
          <p:cNvPr id="49" name="Shape 47"/>
          <p:cNvSpPr/>
          <p:nvPr/>
        </p:nvSpPr>
        <p:spPr>
          <a:xfrm>
            <a:off x="13735050" y="4152602"/>
            <a:ext cx="3419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0" name="Shape 48"/>
          <p:cNvSpPr/>
          <p:nvPr/>
        </p:nvSpPr>
        <p:spPr>
          <a:xfrm>
            <a:off x="13735050" y="4333577"/>
            <a:ext cx="364629" cy="247650"/>
          </a:xfrm>
          <a:prstGeom prst="roundRect">
            <a:avLst>
              <a:gd name="adj" fmla="val 50000"/>
            </a:avLst>
          </a:prstGeom>
          <a:ln w="9525">
            <a:solidFill>
              <a:srgbClr val="CFC9B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839825" y="4390727"/>
            <a:ext cx="2312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K1</a:t>
            </a:r>
            <a:endParaRPr lang="en-US" sz="825" dirty="0"/>
          </a:p>
        </p:txBody>
      </p:sp>
      <p:sp>
        <p:nvSpPr>
          <p:cNvPr id="52" name="Shape 50"/>
          <p:cNvSpPr/>
          <p:nvPr/>
        </p:nvSpPr>
        <p:spPr>
          <a:xfrm>
            <a:off x="14175879" y="4333577"/>
            <a:ext cx="364629" cy="247650"/>
          </a:xfrm>
          <a:prstGeom prst="roundRect">
            <a:avLst>
              <a:gd name="adj" fmla="val 50000"/>
            </a:avLst>
          </a:prstGeom>
          <a:ln w="9525">
            <a:solidFill>
              <a:srgbClr val="CFC9B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4280654" y="4390727"/>
            <a:ext cx="2312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K8</a:t>
            </a:r>
            <a:endParaRPr lang="en-US" sz="825" dirty="0"/>
          </a:p>
        </p:txBody>
      </p:sp>
      <p:sp>
        <p:nvSpPr>
          <p:cNvPr id="54" name="Shape 52"/>
          <p:cNvSpPr/>
          <p:nvPr/>
        </p:nvSpPr>
        <p:spPr>
          <a:xfrm>
            <a:off x="14616708" y="4333577"/>
            <a:ext cx="442168" cy="247650"/>
          </a:xfrm>
          <a:prstGeom prst="roundRect">
            <a:avLst>
              <a:gd name="adj" fmla="val 50000"/>
            </a:avLst>
          </a:prstGeom>
          <a:ln w="9525">
            <a:solidFill>
              <a:srgbClr val="CFC9B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4721483" y="4390727"/>
            <a:ext cx="30881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K11</a:t>
            </a:r>
            <a:endParaRPr lang="en-US" sz="825" dirty="0"/>
          </a:p>
        </p:txBody>
      </p:sp>
      <p:sp>
        <p:nvSpPr>
          <p:cNvPr id="56" name="Shape 54"/>
          <p:cNvSpPr/>
          <p:nvPr/>
        </p:nvSpPr>
        <p:spPr>
          <a:xfrm>
            <a:off x="15135076" y="4333577"/>
            <a:ext cx="442168" cy="247650"/>
          </a:xfrm>
          <a:prstGeom prst="roundRect">
            <a:avLst>
              <a:gd name="adj" fmla="val 50000"/>
            </a:avLst>
          </a:prstGeom>
          <a:ln w="9525">
            <a:solidFill>
              <a:srgbClr val="CFC9B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5239851" y="4390727"/>
            <a:ext cx="30881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3B3F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K12</a:t>
            </a:r>
            <a:endParaRPr lang="en-US" sz="825" dirty="0"/>
          </a:p>
        </p:txBody>
      </p:sp>
      <p:sp>
        <p:nvSpPr>
          <p:cNvPr id="58" name="Shape 56"/>
          <p:cNvSpPr/>
          <p:nvPr/>
        </p:nvSpPr>
        <p:spPr>
          <a:xfrm>
            <a:off x="838200" y="5200352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9" name="Text 57"/>
          <p:cNvSpPr/>
          <p:nvPr/>
        </p:nvSpPr>
        <p:spPr>
          <a:xfrm>
            <a:off x="838200" y="5457527"/>
            <a:ext cx="1373505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与通用 LLM-Wiki 不同，STKB 的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下游不是"研究"，是"行动"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—— 知识必须被产品化为可调用的能力。</a:t>
            </a:r>
            <a:endParaRPr lang="en-US" sz="1950" dirty="0"/>
          </a:p>
        </p:txBody>
      </p:sp>
      <p:sp>
        <p:nvSpPr>
          <p:cNvPr id="60" name="Text 58"/>
          <p:cNvSpPr/>
          <p:nvPr/>
        </p:nvSpPr>
        <p:spPr>
          <a:xfrm>
            <a:off x="838200" y="9867900"/>
            <a:ext cx="11412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P03 · APPS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 / 46</a:t>
            </a:r>
            <a:endParaRPr lang="en-US" sz="8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2031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8E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04 OF 05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542865" y="304800"/>
            <a:ext cx="19831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8E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对比与可结合点 · CONTRAST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4191000"/>
            <a:ext cx="1716024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spc="-300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838200" y="6400800"/>
            <a:ext cx="17109948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spc="189" kern="0" dirty="0">
                <a:solidFill>
                  <a:srgbClr val="E08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04 / 对比层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200" y="6792218"/>
            <a:ext cx="1275397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F5F3E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同根的 pipeline，两种具体化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838200" y="7828508"/>
            <a:ext cx="107918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通用知识库 vs 销售培训垂直领域 —— 它们在哪里相通，又在哪里分叉。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38200" y="9867900"/>
            <a:ext cx="97765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7C7C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CONTRAST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7C7C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 / 46</a:t>
            </a:r>
            <a:endParaRPr lang="en-US" sz="8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2031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SHARED DESIGN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360080" y="304800"/>
            <a:ext cx="11659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架构层面高度一致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 · 高度一致的架构设计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两者本质是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同一条 pipeline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的不同具体化。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814489"/>
            <a:ext cx="3654475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539305"/>
            <a:ext cx="3459309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维度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4492675" y="2814489"/>
            <a:ext cx="5489674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9" name="Text 7"/>
          <p:cNvSpPr/>
          <p:nvPr/>
        </p:nvSpPr>
        <p:spPr>
          <a:xfrm>
            <a:off x="4645075" y="2539305"/>
            <a:ext cx="5349564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LLM-WIKI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9982349" y="2814489"/>
            <a:ext cx="5489674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1" name="Text 9"/>
          <p:cNvSpPr/>
          <p:nvPr/>
        </p:nvSpPr>
        <p:spPr>
          <a:xfrm>
            <a:off x="10134749" y="2539305"/>
            <a:ext cx="5349564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STKB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15472023" y="2814489"/>
            <a:ext cx="1977777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4423" y="2539305"/>
            <a:ext cx="1749177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一致性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838200" y="3330625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2957364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三段式文本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492675" y="3330625"/>
            <a:ext cx="548967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7" name="Text 15"/>
          <p:cNvSpPr/>
          <p:nvPr/>
        </p:nvSpPr>
        <p:spPr>
          <a:xfrm>
            <a:off x="4645075" y="2957364"/>
            <a:ext cx="534956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canonical / retrieval / prompt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982349" y="3330625"/>
            <a:ext cx="548967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9" name="Text 17"/>
          <p:cNvSpPr/>
          <p:nvPr/>
        </p:nvSpPr>
        <p:spPr>
          <a:xfrm>
            <a:off x="10134749" y="2957364"/>
            <a:ext cx="534956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canonical / retrieval / prompt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5472023" y="3330625"/>
            <a:ext cx="19777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1" name="Text 19"/>
          <p:cNvSpPr/>
          <p:nvPr/>
        </p:nvSpPr>
        <p:spPr>
          <a:xfrm>
            <a:off x="15624423" y="2957364"/>
            <a:ext cx="174917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完全一致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38200" y="3846761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3473500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治理 / 审核层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92675" y="3846761"/>
            <a:ext cx="548967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5" name="Text 23"/>
          <p:cNvSpPr/>
          <p:nvPr/>
        </p:nvSpPr>
        <p:spPr>
          <a:xfrm>
            <a:off x="4645075" y="3473500"/>
            <a:ext cx="534956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review-store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982349" y="3846761"/>
            <a:ext cx="548967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7" name="Text 25"/>
          <p:cNvSpPr/>
          <p:nvPr/>
        </p:nvSpPr>
        <p:spPr>
          <a:xfrm>
            <a:off x="10134749" y="3473500"/>
            <a:ext cx="534956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Human Review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5472023" y="3846761"/>
            <a:ext cx="19777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9" name="Text 27"/>
          <p:cNvSpPr/>
          <p:nvPr/>
        </p:nvSpPr>
        <p:spPr>
          <a:xfrm>
            <a:off x="15624423" y="3473500"/>
            <a:ext cx="174917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高度一致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38200" y="4362896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1" name="Text 29"/>
          <p:cNvSpPr/>
          <p:nvPr/>
        </p:nvSpPr>
        <p:spPr>
          <a:xfrm>
            <a:off x="990600" y="3989636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知识域分类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492675" y="4362896"/>
            <a:ext cx="548967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3" name="Text 31"/>
          <p:cNvSpPr/>
          <p:nvPr/>
        </p:nvSpPr>
        <p:spPr>
          <a:xfrm>
            <a:off x="4645075" y="3989636"/>
            <a:ext cx="534956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Wiki Page Type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9982349" y="4362896"/>
            <a:ext cx="548967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5" name="Text 33"/>
          <p:cNvSpPr/>
          <p:nvPr/>
        </p:nvSpPr>
        <p:spPr>
          <a:xfrm>
            <a:off x="10134749" y="3989636"/>
            <a:ext cx="534956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K1—K13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5472023" y="4362896"/>
            <a:ext cx="19777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7" name="Text 35"/>
          <p:cNvSpPr/>
          <p:nvPr/>
        </p:nvSpPr>
        <p:spPr>
          <a:xfrm>
            <a:off x="15624423" y="3989636"/>
            <a:ext cx="174917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概念一致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38200" y="4879032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9" name="Text 37"/>
          <p:cNvSpPr/>
          <p:nvPr/>
        </p:nvSpPr>
        <p:spPr>
          <a:xfrm>
            <a:off x="990600" y="4505771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增量更新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4492675" y="4879032"/>
            <a:ext cx="548967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1" name="Text 39"/>
          <p:cNvSpPr/>
          <p:nvPr/>
        </p:nvSpPr>
        <p:spPr>
          <a:xfrm>
            <a:off x="4645075" y="4505771"/>
            <a:ext cx="534956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ingest-cache (SHA256)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9982349" y="4879032"/>
            <a:ext cx="548967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3" name="Text 41"/>
          <p:cNvSpPr/>
          <p:nvPr/>
        </p:nvSpPr>
        <p:spPr>
          <a:xfrm>
            <a:off x="10134749" y="4505771"/>
            <a:ext cx="534956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增量抽取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15472023" y="4879032"/>
            <a:ext cx="19777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5" name="Text 43"/>
          <p:cNvSpPr/>
          <p:nvPr/>
        </p:nvSpPr>
        <p:spPr>
          <a:xfrm>
            <a:off x="15624423" y="4505771"/>
            <a:ext cx="174917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概念一致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838200" y="5395168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7" name="Text 45"/>
          <p:cNvSpPr/>
          <p:nvPr/>
        </p:nvSpPr>
        <p:spPr>
          <a:xfrm>
            <a:off x="990600" y="5021907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去重合并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4492675" y="5395168"/>
            <a:ext cx="548967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9" name="Text 47"/>
          <p:cNvSpPr/>
          <p:nvPr/>
        </p:nvSpPr>
        <p:spPr>
          <a:xfrm>
            <a:off x="4645075" y="5021907"/>
            <a:ext cx="534956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dedup + dedup-queue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9982349" y="5395168"/>
            <a:ext cx="548967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1" name="Text 49"/>
          <p:cNvSpPr/>
          <p:nvPr/>
        </p:nvSpPr>
        <p:spPr>
          <a:xfrm>
            <a:off x="10134749" y="5021907"/>
            <a:ext cx="534956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实体去重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15472023" y="5395168"/>
            <a:ext cx="19777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3" name="Text 51"/>
          <p:cNvSpPr/>
          <p:nvPr/>
        </p:nvSpPr>
        <p:spPr>
          <a:xfrm>
            <a:off x="15624423" y="5021907"/>
            <a:ext cx="174917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概念一致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838200" y="5911304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5" name="Text 53"/>
          <p:cNvSpPr/>
          <p:nvPr/>
        </p:nvSpPr>
        <p:spPr>
          <a:xfrm>
            <a:off x="990600" y="5538043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多语言支持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4492675" y="5911304"/>
            <a:ext cx="548967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7" name="Text 55"/>
          <p:cNvSpPr/>
          <p:nvPr/>
        </p:nvSpPr>
        <p:spPr>
          <a:xfrm>
            <a:off x="4645075" y="5538043"/>
            <a:ext cx="534956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i18next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9982349" y="5911304"/>
            <a:ext cx="548967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9" name="Text 57"/>
          <p:cNvSpPr/>
          <p:nvPr/>
        </p:nvSpPr>
        <p:spPr>
          <a:xfrm>
            <a:off x="10134749" y="5538043"/>
            <a:ext cx="534956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output_language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15472023" y="5911304"/>
            <a:ext cx="19777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1" name="Text 59"/>
          <p:cNvSpPr/>
          <p:nvPr/>
        </p:nvSpPr>
        <p:spPr>
          <a:xfrm>
            <a:off x="15624423" y="5538043"/>
            <a:ext cx="174917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概念一致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838200" y="6427440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3" name="Text 61"/>
          <p:cNvSpPr/>
          <p:nvPr/>
        </p:nvSpPr>
        <p:spPr>
          <a:xfrm>
            <a:off x="990600" y="6054179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知识图谱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4492675" y="6427440"/>
            <a:ext cx="548967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5" name="Text 63"/>
          <p:cNvSpPr/>
          <p:nvPr/>
        </p:nvSpPr>
        <p:spPr>
          <a:xfrm>
            <a:off x="4645075" y="6054179"/>
            <a:ext cx="534956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graph-filters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9982349" y="6427440"/>
            <a:ext cx="548967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7" name="Text 65"/>
          <p:cNvSpPr/>
          <p:nvPr/>
        </p:nvSpPr>
        <p:spPr>
          <a:xfrm>
            <a:off x="10134749" y="6054179"/>
            <a:ext cx="534956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跨域链接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15472023" y="6427440"/>
            <a:ext cx="19777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9" name="Text 67"/>
          <p:cNvSpPr/>
          <p:nvPr/>
        </p:nvSpPr>
        <p:spPr>
          <a:xfrm>
            <a:off x="15624423" y="6054179"/>
            <a:ext cx="174917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概念一致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838200" y="6943576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1" name="Text 69"/>
          <p:cNvSpPr/>
          <p:nvPr/>
        </p:nvSpPr>
        <p:spPr>
          <a:xfrm>
            <a:off x="990600" y="6570315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置信度打分</a:t>
            </a:r>
            <a:endParaRPr lang="en-US" sz="1350" dirty="0"/>
          </a:p>
        </p:txBody>
      </p:sp>
      <p:sp>
        <p:nvSpPr>
          <p:cNvPr id="72" name="Shape 70"/>
          <p:cNvSpPr/>
          <p:nvPr/>
        </p:nvSpPr>
        <p:spPr>
          <a:xfrm>
            <a:off x="4492675" y="6943576"/>
            <a:ext cx="548967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3" name="Text 71"/>
          <p:cNvSpPr/>
          <p:nvPr/>
        </p:nvSpPr>
        <p:spPr>
          <a:xfrm>
            <a:off x="4645075" y="6570315"/>
            <a:ext cx="534956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confidence</a:t>
            </a:r>
            <a:endParaRPr lang="en-US" sz="1350" dirty="0"/>
          </a:p>
        </p:txBody>
      </p:sp>
      <p:sp>
        <p:nvSpPr>
          <p:cNvPr id="74" name="Shape 72"/>
          <p:cNvSpPr/>
          <p:nvPr/>
        </p:nvSpPr>
        <p:spPr>
          <a:xfrm>
            <a:off x="9982349" y="6943576"/>
            <a:ext cx="5489674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5" name="Text 73"/>
          <p:cNvSpPr/>
          <p:nvPr/>
        </p:nvSpPr>
        <p:spPr>
          <a:xfrm>
            <a:off x="10134749" y="6570315"/>
            <a:ext cx="534956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confidence_score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15472023" y="6943576"/>
            <a:ext cx="19777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7" name="Text 75"/>
          <p:cNvSpPr/>
          <p:nvPr/>
        </p:nvSpPr>
        <p:spPr>
          <a:xfrm>
            <a:off x="15624423" y="6570315"/>
            <a:ext cx="174917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概念一致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838200" y="7243614"/>
            <a:ext cx="1710994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共同的底层逻辑：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输入 → 解析分块 → 向量化 → LLM 抽取 → 结构化知识 → 人工审核 → 知识库</a:t>
            </a:r>
            <a:endParaRPr lang="en-US" sz="1950" dirty="0"/>
          </a:p>
        </p:txBody>
      </p:sp>
      <p:sp>
        <p:nvSpPr>
          <p:cNvPr id="79" name="Text 77"/>
          <p:cNvSpPr/>
          <p:nvPr/>
        </p:nvSpPr>
        <p:spPr>
          <a:xfrm>
            <a:off x="838200" y="9867900"/>
            <a:ext cx="13046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P04 · SHARED</a:t>
            </a:r>
            <a:endParaRPr lang="en-US" sz="825" dirty="0"/>
          </a:p>
        </p:txBody>
      </p:sp>
      <p:sp>
        <p:nvSpPr>
          <p:cNvPr id="80" name="Text 78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 / 46</a:t>
            </a:r>
            <a:endParaRPr lang="en-US" sz="8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8563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QUADRANTS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013311" y="304800"/>
            <a:ext cx="15126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通用广度 VS 领域深度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 · 差异分析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同一条 pipeline，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两个朝向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814489"/>
            <a:ext cx="1776859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539305"/>
            <a:ext cx="1548259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维度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2615059" y="2814489"/>
            <a:ext cx="2935188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9" name="Text 7"/>
          <p:cNvSpPr/>
          <p:nvPr/>
        </p:nvSpPr>
        <p:spPr>
          <a:xfrm>
            <a:off x="2767459" y="2539305"/>
            <a:ext cx="2718444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LLM-WIKI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5550247" y="2814489"/>
            <a:ext cx="3365153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1" name="Text 9"/>
          <p:cNvSpPr/>
          <p:nvPr/>
        </p:nvSpPr>
        <p:spPr>
          <a:xfrm>
            <a:off x="5702647" y="2539305"/>
            <a:ext cx="3161307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STKB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838200" y="3330625"/>
            <a:ext cx="1776859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2957364"/>
            <a:ext cx="154825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目标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615059" y="3330625"/>
            <a:ext cx="29351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5" name="Text 13"/>
          <p:cNvSpPr/>
          <p:nvPr/>
        </p:nvSpPr>
        <p:spPr>
          <a:xfrm>
            <a:off x="2767459" y="2957364"/>
            <a:ext cx="271844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通用知识库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550247" y="3330625"/>
            <a:ext cx="3365153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7" name="Text 15"/>
          <p:cNvSpPr/>
          <p:nvPr/>
        </p:nvSpPr>
        <p:spPr>
          <a:xfrm>
            <a:off x="5702647" y="2957364"/>
            <a:ext cx="316130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销售培训垂直领域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38200" y="3846761"/>
            <a:ext cx="1776859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3473500"/>
            <a:ext cx="154825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知识表示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615059" y="3846761"/>
            <a:ext cx="29351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1" name="Text 19"/>
          <p:cNvSpPr/>
          <p:nvPr/>
        </p:nvSpPr>
        <p:spPr>
          <a:xfrm>
            <a:off x="2767459" y="3473500"/>
            <a:ext cx="271844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实体 / 概念 / 关系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550247" y="3846761"/>
            <a:ext cx="3365153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3" name="Text 21"/>
          <p:cNvSpPr/>
          <p:nvPr/>
        </p:nvSpPr>
        <p:spPr>
          <a:xfrm>
            <a:off x="5702647" y="3473500"/>
            <a:ext cx="316130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K1—K13 领域模型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38200" y="4362896"/>
            <a:ext cx="1776859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3989636"/>
            <a:ext cx="154825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抽取逻辑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2615059" y="4362896"/>
            <a:ext cx="29351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7" name="Text 25"/>
          <p:cNvSpPr/>
          <p:nvPr/>
        </p:nvSpPr>
        <p:spPr>
          <a:xfrm>
            <a:off x="2767459" y="3989636"/>
            <a:ext cx="271844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通用 entity / concept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550247" y="4362896"/>
            <a:ext cx="3365153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9" name="Text 27"/>
          <p:cNvSpPr/>
          <p:nvPr/>
        </p:nvSpPr>
        <p:spPr>
          <a:xfrm>
            <a:off x="5702647" y="3989636"/>
            <a:ext cx="316130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强 schema 驱动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38200" y="4879032"/>
            <a:ext cx="1776859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1" name="Text 29"/>
          <p:cNvSpPr/>
          <p:nvPr/>
        </p:nvSpPr>
        <p:spPr>
          <a:xfrm>
            <a:off x="990600" y="4505771"/>
            <a:ext cx="154825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原子单位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2615059" y="4879032"/>
            <a:ext cx="29351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3" name="Text 31"/>
          <p:cNvSpPr/>
          <p:nvPr/>
        </p:nvSpPr>
        <p:spPr>
          <a:xfrm>
            <a:off x="2767459" y="4505771"/>
            <a:ext cx="271844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实体 / 概念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550247" y="4879032"/>
            <a:ext cx="3365153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5" name="Text 33"/>
          <p:cNvSpPr/>
          <p:nvPr/>
        </p:nvSpPr>
        <p:spPr>
          <a:xfrm>
            <a:off x="5702647" y="4505771"/>
            <a:ext cx="316130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销售场景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38200" y="5395168"/>
            <a:ext cx="1776859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7" name="Text 35"/>
          <p:cNvSpPr/>
          <p:nvPr/>
        </p:nvSpPr>
        <p:spPr>
          <a:xfrm>
            <a:off x="990600" y="5021907"/>
            <a:ext cx="154825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应用场景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2615059" y="5395168"/>
            <a:ext cx="29351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9" name="Text 37"/>
          <p:cNvSpPr/>
          <p:nvPr/>
        </p:nvSpPr>
        <p:spPr>
          <a:xfrm>
            <a:off x="2767459" y="5021907"/>
            <a:ext cx="271844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RAG · 问答 · 研究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550247" y="5395168"/>
            <a:ext cx="3365153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1" name="Text 39"/>
          <p:cNvSpPr/>
          <p:nvPr/>
        </p:nvSpPr>
        <p:spPr>
          <a:xfrm>
            <a:off x="5702647" y="5021907"/>
            <a:ext cx="316130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教练 · 助理 · 诊断 · 数字人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38200" y="5911304"/>
            <a:ext cx="1776859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3" name="Text 41"/>
          <p:cNvSpPr/>
          <p:nvPr/>
        </p:nvSpPr>
        <p:spPr>
          <a:xfrm>
            <a:off x="990600" y="5538043"/>
            <a:ext cx="154825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行业适配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2615059" y="5911304"/>
            <a:ext cx="293518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5" name="Text 43"/>
          <p:cNvSpPr/>
          <p:nvPr/>
        </p:nvSpPr>
        <p:spPr>
          <a:xfrm>
            <a:off x="2767459" y="5538043"/>
            <a:ext cx="271844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无特定行业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5550247" y="5911304"/>
            <a:ext cx="3365153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7" name="Text 45"/>
          <p:cNvSpPr/>
          <p:nvPr/>
        </p:nvSpPr>
        <p:spPr>
          <a:xfrm>
            <a:off x="5702647" y="5538043"/>
            <a:ext cx="316130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可配置 Industry Pack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9372600" y="2405955"/>
            <a:ext cx="8077200" cy="6475065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10725" y="2644080"/>
            <a:ext cx="78289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 · POSITIONING</a:t>
            </a:r>
            <a:endParaRPr lang="en-US" sz="1050" dirty="0"/>
          </a:p>
        </p:txBody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0725" y="2815530"/>
            <a:ext cx="7600950" cy="5827365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838200" y="9867900"/>
            <a:ext cx="11412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P04 · DIFF</a:t>
            </a:r>
            <a:endParaRPr lang="en-US" sz="825" dirty="0"/>
          </a:p>
        </p:txBody>
      </p:sp>
      <p:sp>
        <p:nvSpPr>
          <p:cNvPr id="52" name="Text 49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 / 46</a:t>
            </a:r>
            <a:endParaRPr lang="en-US" sz="8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89651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POINTS OF INTEGRATION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632436" y="304800"/>
            <a:ext cx="8935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可结合点总览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 · 可结合的点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STKB 真正可以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直接借力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的清单。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814489"/>
            <a:ext cx="3654475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539305"/>
            <a:ext cx="3459309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模块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4492675" y="2814489"/>
            <a:ext cx="5766048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9" name="Text 7"/>
          <p:cNvSpPr/>
          <p:nvPr/>
        </p:nvSpPr>
        <p:spPr>
          <a:xfrm>
            <a:off x="4645075" y="2539305"/>
            <a:ext cx="5634229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LLM-WIKI 已有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10258723" y="2814489"/>
            <a:ext cx="7191077" cy="9525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1" name="Text 9"/>
          <p:cNvSpPr/>
          <p:nvPr/>
        </p:nvSpPr>
        <p:spPr>
          <a:xfrm>
            <a:off x="10411123" y="2539305"/>
            <a:ext cx="7102010" cy="179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STKB 是否需要新开发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838200" y="3330625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2957364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文档解析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492675" y="3330625"/>
            <a:ext cx="576604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5" name="Text 13"/>
          <p:cNvSpPr/>
          <p:nvPr/>
        </p:nvSpPr>
        <p:spPr>
          <a:xfrm>
            <a:off x="4645075" y="2957364"/>
            <a:ext cx="563422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file-types.ts（PDF / Office）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258723" y="3330625"/>
            <a:ext cx="71910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1123" y="2957364"/>
            <a:ext cx="71020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仅需扩展 PPT / MP3 / MP4 多模态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38200" y="3846761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3473500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Chunking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92675" y="3846761"/>
            <a:ext cx="576604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1" name="Text 19"/>
          <p:cNvSpPr/>
          <p:nvPr/>
        </p:nvSpPr>
        <p:spPr>
          <a:xfrm>
            <a:off x="4645075" y="3473500"/>
            <a:ext cx="563422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text-chunker.ts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0258723" y="3846761"/>
            <a:ext cx="71910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3" name="Text 21"/>
          <p:cNvSpPr/>
          <p:nvPr/>
        </p:nvSpPr>
        <p:spPr>
          <a:xfrm>
            <a:off x="10411123" y="3473500"/>
            <a:ext cx="71020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复用，只需针对销售文档微调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38200" y="4362896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3989636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Embedding / 向量库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492675" y="4362896"/>
            <a:ext cx="576604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075" y="3989636"/>
            <a:ext cx="563422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LanceDB + OpenAI 兼容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0258723" y="4362896"/>
            <a:ext cx="71910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29" name="Text 27"/>
          <p:cNvSpPr/>
          <p:nvPr/>
        </p:nvSpPr>
        <p:spPr>
          <a:xfrm>
            <a:off x="10411123" y="3989636"/>
            <a:ext cx="71020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完全复用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38200" y="4879032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1" name="Text 29"/>
          <p:cNvSpPr/>
          <p:nvPr/>
        </p:nvSpPr>
        <p:spPr>
          <a:xfrm>
            <a:off x="990600" y="4505771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知识抽取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492675" y="4879032"/>
            <a:ext cx="576604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3" name="Text 31"/>
          <p:cNvSpPr/>
          <p:nvPr/>
        </p:nvSpPr>
        <p:spPr>
          <a:xfrm>
            <a:off x="4645075" y="4505771"/>
            <a:ext cx="563422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通用抽取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0258723" y="4879032"/>
            <a:ext cx="71910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5" name="Text 33"/>
          <p:cNvSpPr/>
          <p:nvPr/>
        </p:nvSpPr>
        <p:spPr>
          <a:xfrm>
            <a:off x="10411123" y="4505771"/>
            <a:ext cx="71020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核心新增</a:t>
            </a:r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：K1—K13 schema + 抽取器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38200" y="5395168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7" name="Text 35"/>
          <p:cNvSpPr/>
          <p:nvPr/>
        </p:nvSpPr>
        <p:spPr>
          <a:xfrm>
            <a:off x="990600" y="5021907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去重合并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4492675" y="5395168"/>
            <a:ext cx="576604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39" name="Text 37"/>
          <p:cNvSpPr/>
          <p:nvPr/>
        </p:nvSpPr>
        <p:spPr>
          <a:xfrm>
            <a:off x="4645075" y="5021907"/>
            <a:ext cx="563422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dedup.ts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10258723" y="5395168"/>
            <a:ext cx="71910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1" name="Text 39"/>
          <p:cNvSpPr/>
          <p:nvPr/>
        </p:nvSpPr>
        <p:spPr>
          <a:xfrm>
            <a:off x="10411123" y="5021907"/>
            <a:ext cx="71020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复用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38200" y="5911304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3" name="Text 41"/>
          <p:cNvSpPr/>
          <p:nvPr/>
        </p:nvSpPr>
        <p:spPr>
          <a:xfrm>
            <a:off x="990600" y="5538043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流程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4492675" y="5911304"/>
            <a:ext cx="576604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5" name="Text 43"/>
          <p:cNvSpPr/>
          <p:nvPr/>
        </p:nvSpPr>
        <p:spPr>
          <a:xfrm>
            <a:off x="4645075" y="5538043"/>
            <a:ext cx="563422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review-store.ts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10258723" y="5911304"/>
            <a:ext cx="71910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7" name="Text 45"/>
          <p:cNvSpPr/>
          <p:nvPr/>
        </p:nvSpPr>
        <p:spPr>
          <a:xfrm>
            <a:off x="10411123" y="5538043"/>
            <a:ext cx="71020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复用，扩展状态机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838200" y="6427440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49" name="Text 47"/>
          <p:cNvSpPr/>
          <p:nvPr/>
        </p:nvSpPr>
        <p:spPr>
          <a:xfrm>
            <a:off x="990600" y="6054179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知识图谱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4492675" y="6427440"/>
            <a:ext cx="576604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1" name="Text 49"/>
          <p:cNvSpPr/>
          <p:nvPr/>
        </p:nvSpPr>
        <p:spPr>
          <a:xfrm>
            <a:off x="4645075" y="6054179"/>
            <a:ext cx="563422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graph-filters.ts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10258723" y="6427440"/>
            <a:ext cx="71910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3" name="Text 51"/>
          <p:cNvSpPr/>
          <p:nvPr/>
        </p:nvSpPr>
        <p:spPr>
          <a:xfrm>
            <a:off x="10411123" y="6054179"/>
            <a:ext cx="71020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扩展场景（K4）联动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838200" y="6943576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5" name="Text 53"/>
          <p:cNvSpPr/>
          <p:nvPr/>
        </p:nvSpPr>
        <p:spPr>
          <a:xfrm>
            <a:off x="990600" y="6570315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i18n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4492675" y="6943576"/>
            <a:ext cx="576604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7" name="Text 55"/>
          <p:cNvSpPr/>
          <p:nvPr/>
        </p:nvSpPr>
        <p:spPr>
          <a:xfrm>
            <a:off x="4645075" y="6570315"/>
            <a:ext cx="563422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i18next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10258723" y="6943576"/>
            <a:ext cx="71910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59" name="Text 57"/>
          <p:cNvSpPr/>
          <p:nvPr/>
        </p:nvSpPr>
        <p:spPr>
          <a:xfrm>
            <a:off x="10411123" y="6570315"/>
            <a:ext cx="71020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复用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838200" y="7459712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1" name="Text 59"/>
          <p:cNvSpPr/>
          <p:nvPr/>
        </p:nvSpPr>
        <p:spPr>
          <a:xfrm>
            <a:off x="990600" y="7086451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LLM Provider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4492675" y="7459712"/>
            <a:ext cx="576604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3" name="Text 61"/>
          <p:cNvSpPr/>
          <p:nvPr/>
        </p:nvSpPr>
        <p:spPr>
          <a:xfrm>
            <a:off x="4645075" y="7086451"/>
            <a:ext cx="563422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llm-providers.ts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10258723" y="7459712"/>
            <a:ext cx="71910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5" name="Text 63"/>
          <p:cNvSpPr/>
          <p:nvPr/>
        </p:nvSpPr>
        <p:spPr>
          <a:xfrm>
            <a:off x="10411123" y="7086451"/>
            <a:ext cx="71020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复用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838200" y="7975848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7" name="Text 65"/>
          <p:cNvSpPr/>
          <p:nvPr/>
        </p:nvSpPr>
        <p:spPr>
          <a:xfrm>
            <a:off x="990600" y="7602587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Web Search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4492675" y="7975848"/>
            <a:ext cx="576604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69" name="Text 67"/>
          <p:cNvSpPr/>
          <p:nvPr/>
        </p:nvSpPr>
        <p:spPr>
          <a:xfrm>
            <a:off x="4645075" y="7602587"/>
            <a:ext cx="563422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Tavily / SerpApi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10258723" y="7975848"/>
            <a:ext cx="71910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1" name="Text 69"/>
          <p:cNvSpPr/>
          <p:nvPr/>
        </p:nvSpPr>
        <p:spPr>
          <a:xfrm>
            <a:off x="10411123" y="7602587"/>
            <a:ext cx="71020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可选复用</a:t>
            </a:r>
            <a:endParaRPr lang="en-US" sz="1350" dirty="0"/>
          </a:p>
        </p:txBody>
      </p:sp>
      <p:sp>
        <p:nvSpPr>
          <p:cNvPr id="72" name="Shape 70"/>
          <p:cNvSpPr/>
          <p:nvPr/>
        </p:nvSpPr>
        <p:spPr>
          <a:xfrm>
            <a:off x="838200" y="8491984"/>
            <a:ext cx="3654475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3" name="Text 71"/>
          <p:cNvSpPr/>
          <p:nvPr/>
        </p:nvSpPr>
        <p:spPr>
          <a:xfrm>
            <a:off x="990600" y="8118723"/>
            <a:ext cx="345930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Lint 体检</a:t>
            </a:r>
            <a:endParaRPr lang="en-US" sz="1350" dirty="0"/>
          </a:p>
        </p:txBody>
      </p:sp>
      <p:sp>
        <p:nvSpPr>
          <p:cNvPr id="74" name="Shape 72"/>
          <p:cNvSpPr/>
          <p:nvPr/>
        </p:nvSpPr>
        <p:spPr>
          <a:xfrm>
            <a:off x="4492675" y="8491984"/>
            <a:ext cx="5766048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5" name="Text 73"/>
          <p:cNvSpPr/>
          <p:nvPr/>
        </p:nvSpPr>
        <p:spPr>
          <a:xfrm>
            <a:off x="4645075" y="8118723"/>
            <a:ext cx="5634229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lint.ts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10258723" y="8491984"/>
            <a:ext cx="7191077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7" name="Text 75"/>
          <p:cNvSpPr/>
          <p:nvPr/>
        </p:nvSpPr>
        <p:spPr>
          <a:xfrm>
            <a:off x="10411123" y="8118723"/>
            <a:ext cx="71020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扩展销售域规则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838200" y="9867900"/>
            <a:ext cx="154974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P04 · INTEGRATE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 / 46</a:t>
            </a:r>
            <a:endParaRPr lang="en-US" sz="8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3763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SHARED PATTERNS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679043" y="304800"/>
            <a:ext cx="18469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两者真正共享的五个设计模式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 · 共享的设计模式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不是表面像，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骨子里同根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463105"/>
            <a:ext cx="5384750" cy="195619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475" y="2739330"/>
            <a:ext cx="49380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PATTERN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475" y="2967930"/>
            <a:ext cx="49380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三段式文本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33475" y="3463230"/>
            <a:ext cx="4938026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canonical（权威正文）/ retrieval（向量压缩）/ prompt（短调用版）—— 同一份知识，三种载体。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6451550" y="2463105"/>
            <a:ext cx="5384750" cy="195619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6825" y="2739330"/>
            <a:ext cx="49380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PATTERN 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46825" y="2967930"/>
            <a:ext cx="49380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治理层抽象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46825" y="3463230"/>
            <a:ext cx="4938026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审核工作流 + 状态机：candidate → review → published / rejected / merged。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2064901" y="2463105"/>
            <a:ext cx="5384750" cy="195619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60176" y="2739330"/>
            <a:ext cx="49380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PATTERN 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360176" y="2967930"/>
            <a:ext cx="49380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增量更新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60176" y="3463230"/>
            <a:ext cx="4938026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基于内容哈希避免重复处理，新增 / 修改 / 删除都按差量推进。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838200" y="4647902"/>
            <a:ext cx="5384750" cy="195619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3475" y="4924127"/>
            <a:ext cx="49380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PATTERN 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475" y="5152727"/>
            <a:ext cx="49380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去重合并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33475" y="5648027"/>
            <a:ext cx="4938026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实体唯一性保证 + 跨 ingest 合并，防止"同一个东西多个名字"。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6451550" y="4647902"/>
            <a:ext cx="5384750" cy="1956197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6825" y="4924127"/>
            <a:ext cx="49380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PATTERN 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46825" y="5152727"/>
            <a:ext cx="49380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置信度打分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46825" y="5648027"/>
            <a:ext cx="4938026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每条知识带 confidence_score，作为下游应用的过滤门槛。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2064901" y="4647902"/>
            <a:ext cx="5384750" cy="1956197"/>
          </a:xfrm>
          <a:prstGeom prst="rect">
            <a:avLst/>
          </a:prstGeom>
          <a:solidFill>
            <a:srgbClr val="1A1D2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60176" y="4924127"/>
            <a:ext cx="49380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E08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360176" y="5152727"/>
            <a:ext cx="49380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3E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同根的工程哲学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360176" y="5648027"/>
            <a:ext cx="4938026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两者都把"</a:t>
            </a:r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E08E6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人类策展 + LLM 维护 </a:t>
            </a:r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"作为系统设计前提，而不是事后补救。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838200" y="9867900"/>
            <a:ext cx="14680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P04 · PATTERNS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 / 46</a:t>
            </a:r>
            <a:endParaRPr lang="en-US" sz="8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2031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8E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05 OF 05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097125" y="304800"/>
            <a:ext cx="24288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8E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STKB 借鉴 LLM-WIKI · ROADMAP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4191000"/>
            <a:ext cx="1716024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spc="-300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838200" y="6400800"/>
            <a:ext cx="17109948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spc="189" kern="0" dirty="0">
                <a:solidFill>
                  <a:srgbClr val="E08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05 / 借鉴层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200" y="6792218"/>
            <a:ext cx="1275397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dirty="0">
                <a:solidFill>
                  <a:srgbClr val="F5F3E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STKB 借鉴 LLM-Wiki：三阶段路线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838200" y="7828508"/>
            <a:ext cx="107918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先复用骨架做出 MVP，再注入领域，最后构建生态。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38200" y="9867900"/>
            <a:ext cx="8959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7C7C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7C7C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 / 46</a:t>
            </a:r>
            <a:endParaRPr lang="en-US" sz="8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289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PHASED ROADMAP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496258" y="304800"/>
            <a:ext cx="10297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三阶段路线总览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 · 三阶段路线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建议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直接基于 LLM-Wiki 的骨架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，承载 STKB 的内容模型。</a:t>
            </a:r>
            <a:endParaRPr lang="en-US" sz="3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463105"/>
            <a:ext cx="16611600" cy="136787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8200" y="4221510"/>
            <a:ext cx="166116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8" name="Shape 5"/>
          <p:cNvSpPr/>
          <p:nvPr/>
        </p:nvSpPr>
        <p:spPr>
          <a:xfrm>
            <a:off x="838200" y="4497735"/>
            <a:ext cx="5334000" cy="2464594"/>
          </a:xfrm>
          <a:prstGeom prst="rect">
            <a:avLst/>
          </a:prstGeom>
          <a:solidFill>
            <a:srgbClr val="FFF8F3"/>
          </a:solidFill>
          <a:ln w="9525">
            <a:solidFill>
              <a:srgbClr val="B663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475" y="4773960"/>
            <a:ext cx="48857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01 · MVP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475" y="5002560"/>
            <a:ext cx="4885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 LLM-Wiki 骨架，承载 STKB 内容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98245" y="5488335"/>
            <a:ext cx="475488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复用 ingest pipeline / chunking / embedding / dedup / review</a:t>
            </a:r>
            <a:endParaRPr lang="en-US" sz="1200" dirty="0"/>
          </a:p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 K1—K13 定义为自定义 Wiki Page Type</a:t>
            </a:r>
            <a:endParaRPr lang="en-US" sz="1200" dirty="0"/>
          </a:p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 STKB 领域抽取器作为通用抽取的垂直扩展</a:t>
            </a:r>
            <a:endParaRPr lang="en-US" sz="1200" dirty="0"/>
          </a:p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优先做 K1 / K2 / K4 / K9 四个域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77000" y="4497735"/>
            <a:ext cx="5334000" cy="2464594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72275" y="4773960"/>
            <a:ext cx="48857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02 · 完善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772275" y="5012085"/>
            <a:ext cx="4885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把垂直能力沉淀为框架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837045" y="5497860"/>
            <a:ext cx="475488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K1—K13 schema 正式化为类型系统</a:t>
            </a:r>
            <a:endParaRPr lang="en-US" sz="1200" dirty="0"/>
          </a:p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开发 Stage 1 领域并行抽取器</a:t>
            </a:r>
            <a:endParaRPr lang="en-US" sz="1200" dirty="0"/>
          </a:p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完善 Human Review 工作流</a:t>
            </a:r>
            <a:endParaRPr lang="en-US" sz="1200" dirty="0"/>
          </a:p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知识图谱叠加"场景驱动联动"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2115800" y="4497735"/>
            <a:ext cx="5334000" cy="2464594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411075" y="4773960"/>
            <a:ext cx="48857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03 · 生态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2411075" y="5012085"/>
            <a:ext cx="4885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行业 / 企业 / 应用三层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475845" y="5497860"/>
            <a:ext cx="475488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构建 Industry Pack（保险 → 医疗 → 金融）</a:t>
            </a:r>
            <a:endParaRPr lang="en-US" sz="1200" dirty="0"/>
          </a:p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开发 Enterprise Overlay 权限系统</a:t>
            </a:r>
            <a:endParaRPr lang="en-US" sz="1200" dirty="0"/>
          </a:p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完善 AI 应用层（教练 / 助理 / 诊断 / 数字人）</a:t>
            </a:r>
            <a:endParaRPr lang="en-US" sz="1200" dirty="0"/>
          </a:p>
          <a:p>
            <a:pPr algn="l" marL="106680" indent="-106680">
              <a:lnSpc>
                <a:spcPct val="170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多模态扩展（PPT / 音频 / 视频）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38200" y="9867900"/>
            <a:ext cx="13863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P05 · ROADMAP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 / 46</a:t>
            </a:r>
            <a:endParaRPr lang="en-US" sz="8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B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7231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BORROW LIST &amp; RISKS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100078" y="304800"/>
            <a:ext cx="142592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直接拿来 + 注意事项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 · 直接可拿来的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8241030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 清单。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830711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68836"/>
            <a:ext cx="815854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200000"/>
              </a:lnSpc>
              <a:buSzPct val="100000"/>
              <a:buChar char="•"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text-chunker.ts </a:t>
            </a:r>
            <a:pPr algn="l" indent="0" marL="0">
              <a:lnSpc>
                <a:spcPct val="200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601 行 markdown 感知分块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449836"/>
            <a:ext cx="815854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200000"/>
              </a:lnSpc>
              <a:buSzPct val="100000"/>
              <a:buChar char="•"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dedup.ts </a:t>
            </a:r>
            <a:pPr algn="l" indent="0" marL="0">
              <a:lnSpc>
                <a:spcPct val="200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559 行去重机制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830836"/>
            <a:ext cx="815854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200000"/>
              </a:lnSpc>
              <a:buSzPct val="100000"/>
              <a:buChar char="•"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ingest-queue.ts </a:t>
            </a:r>
            <a:pPr algn="l" indent="0" marL="0">
              <a:lnSpc>
                <a:spcPct val="200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540 行持久化队列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211836"/>
            <a:ext cx="815854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200000"/>
              </a:lnSpc>
              <a:buSzPct val="100000"/>
              <a:buChar char="•"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llm-providers.ts </a:t>
            </a:r>
            <a:pPr algn="l" indent="0" marL="0">
              <a:lnSpc>
                <a:spcPct val="200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676 行 Provider 抽象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592836"/>
            <a:ext cx="815854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200000"/>
              </a:lnSpc>
              <a:buSzPct val="100000"/>
              <a:buChar char="•"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lint.ts </a:t>
            </a:r>
            <a:pPr algn="l" indent="0" marL="0">
              <a:lnSpc>
                <a:spcPct val="200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299 行结构 + 语义检查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973836"/>
            <a:ext cx="815854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200000"/>
              </a:lnSpc>
              <a:buSzPct val="100000"/>
              <a:buChar char="•"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graph-insights.ts </a:t>
            </a:r>
            <a:pPr algn="l" indent="0" marL="0">
              <a:lnSpc>
                <a:spcPct val="200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193 行知识缺口发现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354836"/>
            <a:ext cx="815854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200000"/>
              </a:lnSpc>
              <a:buSzPct val="100000"/>
              <a:buChar char="•"/>
            </a:pPr>
            <a:r>
              <a:rPr lang="en-US" sz="105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page-merge.ts </a:t>
            </a:r>
            <a:pPr algn="l" indent="0" marL="0">
              <a:lnSpc>
                <a:spcPct val="200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237 行页面合并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8200" y="5869186"/>
            <a:ext cx="824103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6C70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这些代码原样可用，只需按 STKB 的命名 / 路径接入。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9448800" y="1333500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 · 风险与注意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9448800" y="1638300"/>
            <a:ext cx="8241030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慎 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 清单。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9448800" y="2830711"/>
            <a:ext cx="8001000" cy="9525"/>
          </a:xfrm>
          <a:prstGeom prst="rect">
            <a:avLst/>
          </a:prstGeom>
          <a:solidFill>
            <a:srgbClr val="CFC9BC"/>
          </a:solidFill>
          <a:ln/>
        </p:spPr>
      </p:sp>
      <p:sp>
        <p:nvSpPr>
          <p:cNvPr id="18" name="Text 16"/>
          <p:cNvSpPr/>
          <p:nvPr/>
        </p:nvSpPr>
        <p:spPr>
          <a:xfrm>
            <a:off x="9448800" y="3068836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 01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9448800" y="3268861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Schema 复杂度：K1—K13 共 815 行 schema，迁移需要较大 adaptation。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48800" y="3773686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 02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9448800" y="3973711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多模态：STKB 需 PPT / MP3 / MP4，LLM-Wiki 当前主要面向文本。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48800" y="4478536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 03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9448800" y="4678561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企业级：Enterprise Overlay 涉及权限 / 多租户，是 LLM-Wiki 当前不具备的。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48800" y="5183386"/>
            <a:ext cx="82410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 04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9448800" y="5383411"/>
            <a:ext cx="82410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场景驱动联动：要在通用图谱之上加销售域语义，需额外开发。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8200" y="9867900"/>
            <a:ext cx="13046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P05 · BORROW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 / 46</a:t>
            </a:r>
            <a:endParaRPr lang="en-US" sz="8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1289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MVP IN 90 DAYS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632436" y="304800"/>
            <a:ext cx="8935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具体落地建议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333500"/>
            <a:ext cx="171099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 · MVP 落地建议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38300"/>
            <a:ext cx="17109948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90 天内做出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可演示</a:t>
            </a:r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的销售知识库。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200" y="2405955"/>
            <a:ext cx="16611600" cy="862013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6325" y="2605980"/>
            <a:ext cx="16002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01—02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076325" y="2806005"/>
            <a:ext cx="1600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基线接入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828925" y="2605980"/>
            <a:ext cx="148142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Fork llm_wiki 项目骨架；接入企业 LLM Provider；跑通文档摄取与本地向量库；建立保险行业 Industry Pack 框架。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8200" y="3382268"/>
            <a:ext cx="16611600" cy="862013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6325" y="3582293"/>
            <a:ext cx="16002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03—05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076325" y="3782318"/>
            <a:ext cx="1600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注入 K1 / K2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828925" y="3582293"/>
            <a:ext cx="148142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先实现产品 K1 与 12 类客户画像 K2 的 schema 与抽取器；以"自定义 page type"形式接入；review 走通。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8200" y="4358580"/>
            <a:ext cx="166116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B66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6325" y="4558605"/>
            <a:ext cx="16002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06—08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076325" y="4758630"/>
            <a:ext cx="16002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B66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销售场景 K4 中枢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828925" y="4558605"/>
            <a:ext cx="148142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引入 K4，作为联动中枢；扩展图谱以反映场景—画像—话术—异议 的关系；实现"按场景检索"。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38200" y="5596830"/>
            <a:ext cx="16611600" cy="862013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6325" y="5796855"/>
            <a:ext cx="16002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09—10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076325" y="5996880"/>
            <a:ext cx="1600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异议处理 K9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2828925" y="5796855"/>
            <a:ext cx="148142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最具产品化价值的领域，用其完整跑通"输入对话 → 抽取 → 入库 → 检索 → 推荐"的演示链路。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38200" y="6573143"/>
            <a:ext cx="16611600" cy="862013"/>
          </a:xfrm>
          <a:prstGeom prst="rect">
            <a:avLst/>
          </a:prstGeom>
          <a:solidFill>
            <a:srgbClr val="FFFFFF"/>
          </a:solidFill>
          <a:ln w="9525">
            <a:solidFill>
              <a:srgbClr val="CFC9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6325" y="6773168"/>
            <a:ext cx="16002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B663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11—13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076325" y="6973193"/>
            <a:ext cx="1600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A1D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第一个 AI 应用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2828925" y="6773168"/>
            <a:ext cx="148142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3B3F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产出 AI 助理或 AI 教练 中的一个最小产品形态；做内部演示；收集一线反馈，决定下一步收敛方向。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8200" y="9867900"/>
            <a:ext cx="105950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P05 · MVP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C7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 / 46</a:t>
            </a:r>
            <a:endParaRPr lang="en-US" sz="8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09563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8E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CLOSING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6768763" y="304800"/>
            <a:ext cx="7572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8E8E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三句话带走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38200" y="1807592"/>
            <a:ext cx="5418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E08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收尾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2207642"/>
            <a:ext cx="14716125" cy="3558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b="1" spc="-63" kern="0" dirty="0">
                <a:solidFill>
                  <a:srgbClr val="F5F3E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不是替代 RAG， 也不是另起炉灶 —— </a:t>
            </a:r>
            <a:pPr algn="l" indent="0" marL="0">
              <a:lnSpc>
                <a:spcPct val="110000"/>
              </a:lnSpc>
              <a:buNone/>
            </a:pPr>
            <a:r>
              <a:rPr lang="en-US" sz="6300" b="1" spc="-63" kern="0" dirty="0">
                <a:solidFill>
                  <a:srgbClr val="E08E6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先借 LLM-Wiki 的骨架， 再让 STKB 长出垂直的肉。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838200" y="6184925"/>
            <a:ext cx="4953000" cy="9525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7" name="Shape 5"/>
          <p:cNvSpPr/>
          <p:nvPr/>
        </p:nvSpPr>
        <p:spPr>
          <a:xfrm>
            <a:off x="838200" y="6156350"/>
            <a:ext cx="66675" cy="66675"/>
          </a:xfrm>
          <a:prstGeom prst="ellipse">
            <a:avLst/>
          </a:prstGeom>
          <a:solidFill>
            <a:srgbClr val="E08E60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" y="6423050"/>
            <a:ext cx="45914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E08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TAKEAWAY 01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38200" y="6661175"/>
            <a:ext cx="459143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 LLM 当成"</a:t>
            </a:r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E08E6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知识维护引擎 </a:t>
            </a:r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"，而不是"一次性回答机"。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53100" y="6423050"/>
            <a:ext cx="45914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E08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TAKEAWAY 02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753100" y="6661175"/>
            <a:ext cx="459143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两个项目</a:t>
            </a:r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E08E6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同根 </a:t>
            </a:r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：三段式文本、增量摄取、人审治理、置信度打分。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68000" y="6423050"/>
            <a:ext cx="45914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E08E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TAKEAWAY 03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668000" y="6661175"/>
            <a:ext cx="459143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借鉴的最大价值是</a:t>
            </a:r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E08E6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省下基础设施 </a:t>
            </a:r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BDBDB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，把精力投在 STKB 真正特别的部分：场景驱动联动 + AI 应用层。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8200" y="8089925"/>
            <a:ext cx="17109948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spc="189" kern="0" dirty="0">
                <a:solidFill>
                  <a:srgbClr val="7C7C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 · 谢谢观看 · QUESTIONS WELCOME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8200" y="9867900"/>
            <a:ext cx="8959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7C7C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CLOSING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6877705" y="9867900"/>
            <a:ext cx="648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7C7C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 / 46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2026-05-07T15:09:22Z</dcterms:created>
  <dcterms:modified xsi:type="dcterms:W3CDTF">2026-05-07T15:09:22Z</dcterms:modified>
</cp:coreProperties>
</file>